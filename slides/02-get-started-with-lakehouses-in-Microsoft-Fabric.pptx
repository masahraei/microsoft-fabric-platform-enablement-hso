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74" r:id="rId4"/>
    <p:sldId id="258" r:id="rId5"/>
    <p:sldId id="266" r:id="rId6"/>
    <p:sldId id="275" r:id="rId7"/>
    <p:sldId id="259" r:id="rId8"/>
    <p:sldId id="261" r:id="rId9"/>
    <p:sldId id="281" r:id="rId10"/>
    <p:sldId id="276" r:id="rId11"/>
    <p:sldId id="277" r:id="rId12"/>
    <p:sldId id="278" r:id="rId13"/>
    <p:sldId id="262" r:id="rId14"/>
    <p:sldId id="279" r:id="rId15"/>
    <p:sldId id="280" r:id="rId16"/>
    <p:sldId id="28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8" autoAdjust="0"/>
  </p:normalViewPr>
  <p:slideViewPr>
    <p:cSldViewPr snapToGrid="0">
      <p:cViewPr varScale="1">
        <p:scale>
          <a:sx n="80" d="100"/>
          <a:sy n="80" d="100"/>
        </p:scale>
        <p:origin x="132" y="1656"/>
      </p:cViewPr>
      <p:guideLst/>
    </p:cSldViewPr>
  </p:slideViewPr>
  <p:outlineViewPr>
    <p:cViewPr>
      <p:scale>
        <a:sx n="33" d="100"/>
        <a:sy n="33" d="100"/>
      </p:scale>
      <p:origin x="0" y="-102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9580B4F5-EF34-4076-4801-ABDB2B3E9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24A1B5D-1D47-65C3-0D04-FAB3144EF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A9A1A-9B7B-43B6-83E2-1C3BA71C36FA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9ED775F-2891-E292-6656-920749C3D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18A42F-295D-9CB3-1449-AFF424BEDC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EEAD8-56DE-4448-BD88-1C5AF440A5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6757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B905-4A17-4C59-B503-877828FB4C10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91F26-338A-419B-9087-0422F6EF9B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40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883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Hei alle sammen, og velkommen til Microsoft </a:t>
            </a:r>
            <a:r>
              <a:rPr lang="nb-NO" dirty="0" err="1"/>
              <a:t>Fabric</a:t>
            </a:r>
            <a:r>
              <a:rPr lang="nb-NO" dirty="0"/>
              <a:t> Platform Enablement Program – HSØ.</a:t>
            </a:r>
          </a:p>
          <a:p>
            <a:r>
              <a:rPr lang="nb-NO" dirty="0"/>
              <a:t>Dette er første samling i en serie hvor målet er å bygge forståelse og kompetanse rundt Microsoft </a:t>
            </a:r>
            <a:r>
              <a:rPr lang="nb-NO" dirty="0" err="1"/>
              <a:t>Fabric</a:t>
            </a:r>
            <a:r>
              <a:rPr lang="nb-NO" dirty="0"/>
              <a:t> før plattformen går i produksjon.</a:t>
            </a:r>
          </a:p>
          <a:p>
            <a:r>
              <a:rPr lang="nb-NO" dirty="0"/>
              <a:t>I dag starter vi med en introduksjon og ser på hva ende-til-ende-analyse betyr i praksis.</a:t>
            </a:r>
          </a:p>
          <a:p>
            <a:r>
              <a:rPr lang="nb-NO" dirty="0"/>
              <a:t>Det er viktig for meg at dette er en åpen arena – alle er velkommen til å delta og stille spørsmål underveis.</a:t>
            </a:r>
          </a:p>
          <a:p>
            <a:r>
              <a:rPr lang="nb-NO" dirty="0"/>
              <a:t>Alt materiale vil deles på GitHub, og seminarene tas opp slik at flere kan få tilgang i etterkant.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155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76AC-B2BF-8BE0-004B-9DAF40A7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00FE888E-A3F6-5D2D-AE97-03D829613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223AE9F1-894A-8EA4-EC7B-2B9E4C4B8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Hei alle sammen, og velkommen til Microsoft </a:t>
            </a:r>
            <a:r>
              <a:rPr lang="nb-NO" dirty="0" err="1"/>
              <a:t>Fabric</a:t>
            </a:r>
            <a:r>
              <a:rPr lang="nb-NO" dirty="0"/>
              <a:t> Platform Enablement Program – HSØ.</a:t>
            </a:r>
          </a:p>
          <a:p>
            <a:r>
              <a:rPr lang="nb-NO" dirty="0"/>
              <a:t>Dette er første samling i en serie hvor målet er å bygge forståelse og kompetanse rundt Microsoft </a:t>
            </a:r>
            <a:r>
              <a:rPr lang="nb-NO" dirty="0" err="1"/>
              <a:t>Fabric</a:t>
            </a:r>
            <a:r>
              <a:rPr lang="nb-NO" dirty="0"/>
              <a:t> før plattformen går i produksjon.</a:t>
            </a:r>
          </a:p>
          <a:p>
            <a:r>
              <a:rPr lang="nb-NO" dirty="0"/>
              <a:t>I dag starter vi med en introduksjon og ser på hva ende-til-ende-analyse betyr i praksis.</a:t>
            </a:r>
          </a:p>
          <a:p>
            <a:r>
              <a:rPr lang="nb-NO" dirty="0"/>
              <a:t>Det er viktig for meg at dette er en åpen arena – alle er velkommen til å delta og stille spørsmål underveis.</a:t>
            </a:r>
          </a:p>
          <a:p>
            <a:r>
              <a:rPr lang="nb-NO" dirty="0"/>
              <a:t>Alt materiale vil deles på GitHub, og seminarene tas opp slik at flere kan få tilgang i etterkant.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C313400-295A-E642-2100-4691A706F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26123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Jeg heter Mohammad Amin Sahraei og jobber som Data </a:t>
            </a:r>
            <a:r>
              <a:rPr lang="nb-NO" dirty="0" err="1"/>
              <a:t>Engineer</a:t>
            </a:r>
            <a:r>
              <a:rPr lang="nb-NO" dirty="0"/>
              <a:t> i Data og Analyse-avdelingen i VVHF.</a:t>
            </a:r>
          </a:p>
          <a:p>
            <a:r>
              <a:rPr lang="nb-NO" dirty="0"/>
              <a:t>Jeg har jobbet med Microsoft </a:t>
            </a:r>
            <a:r>
              <a:rPr lang="nb-NO" dirty="0" err="1"/>
              <a:t>Fabric</a:t>
            </a:r>
            <a:r>
              <a:rPr lang="nb-NO" dirty="0"/>
              <a:t> siden plattformen ble innført, og har fulgt utviklingen tett både teknisk og strategisk.</a:t>
            </a:r>
          </a:p>
          <a:p>
            <a:r>
              <a:rPr lang="nb-NO" dirty="0"/>
              <a:t>Jeg er sertifisert i både DP-600 og DP-700, som dekker henholdsvis Analytics </a:t>
            </a:r>
            <a:r>
              <a:rPr lang="nb-NO" dirty="0" err="1"/>
              <a:t>Engineer</a:t>
            </a:r>
            <a:r>
              <a:rPr lang="nb-NO" dirty="0"/>
              <a:t> og Data </a:t>
            </a:r>
            <a:r>
              <a:rPr lang="nb-NO" dirty="0" err="1"/>
              <a:t>Engineer</a:t>
            </a:r>
            <a:r>
              <a:rPr lang="nb-NO" dirty="0"/>
              <a:t> i Microsoft </a:t>
            </a:r>
            <a:r>
              <a:rPr lang="nb-NO" dirty="0" err="1"/>
              <a:t>Fabric</a:t>
            </a:r>
            <a:r>
              <a:rPr lang="nb-NO" dirty="0"/>
              <a:t>.</a:t>
            </a:r>
          </a:p>
          <a:p>
            <a:r>
              <a:rPr lang="nb-NO" dirty="0"/>
              <a:t>Målet mitt med denne serien er å dele erfaringer og samtidig skape en felles forståelse i regionen.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4617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262A7-09B1-F617-C581-239F94E56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852645C4-4762-308E-C94F-FB8CA8B77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A24CFE29-26F7-4572-AF03-808DA7C4A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Jeg heter Mohammad Amin Sahraei og jobber som Data </a:t>
            </a:r>
            <a:r>
              <a:rPr lang="nb-NO" dirty="0" err="1"/>
              <a:t>Engineer</a:t>
            </a:r>
            <a:r>
              <a:rPr lang="nb-NO" dirty="0"/>
              <a:t> i Data og Analyse-avdelingen i VVHF.</a:t>
            </a:r>
          </a:p>
          <a:p>
            <a:r>
              <a:rPr lang="nb-NO" dirty="0"/>
              <a:t>Jeg har jobbet med Microsoft </a:t>
            </a:r>
            <a:r>
              <a:rPr lang="nb-NO" dirty="0" err="1"/>
              <a:t>Fabric</a:t>
            </a:r>
            <a:r>
              <a:rPr lang="nb-NO" dirty="0"/>
              <a:t> siden plattformen ble innført, og har fulgt utviklingen tett både teknisk og strategisk.</a:t>
            </a:r>
          </a:p>
          <a:p>
            <a:r>
              <a:rPr lang="nb-NO" dirty="0"/>
              <a:t>Jeg er sertifisert i både DP-600 og DP-700, som dekker henholdsvis Analytics </a:t>
            </a:r>
            <a:r>
              <a:rPr lang="nb-NO" dirty="0" err="1"/>
              <a:t>Engineer</a:t>
            </a:r>
            <a:r>
              <a:rPr lang="nb-NO" dirty="0"/>
              <a:t> og Data </a:t>
            </a:r>
            <a:r>
              <a:rPr lang="nb-NO" dirty="0" err="1"/>
              <a:t>Engineer</a:t>
            </a:r>
            <a:r>
              <a:rPr lang="nb-NO" dirty="0"/>
              <a:t> i Microsoft </a:t>
            </a:r>
            <a:r>
              <a:rPr lang="nb-NO" dirty="0" err="1"/>
              <a:t>Fabric</a:t>
            </a:r>
            <a:r>
              <a:rPr lang="nb-NO" dirty="0"/>
              <a:t>.</a:t>
            </a:r>
          </a:p>
          <a:p>
            <a:r>
              <a:rPr lang="nb-NO" dirty="0"/>
              <a:t>Målet mitt med denne serien er å dele erfaringer og samtidig skape en felles forståelse i regionen.</a:t>
            </a:r>
          </a:p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E84A49C6-2282-BAD0-4824-34BEC72A3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288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 dirty="0"/>
              <a:t>Per i dag er Microsoft </a:t>
            </a:r>
            <a:r>
              <a:rPr lang="nb-NO" dirty="0" err="1"/>
              <a:t>Fabric</a:t>
            </a:r>
            <a:r>
              <a:rPr lang="nb-NO" dirty="0"/>
              <a:t> ikke tilgjengelig for sensitive data, og bruken er derfor begrenset til anonymiserte analyser.</a:t>
            </a:r>
          </a:p>
          <a:p>
            <a:r>
              <a:rPr lang="nb-NO" dirty="0"/>
              <a:t>Min visjon er at </a:t>
            </a:r>
            <a:r>
              <a:rPr lang="nb-NO" dirty="0" err="1"/>
              <a:t>Fabric</a:t>
            </a:r>
            <a:r>
              <a:rPr lang="nb-NO" dirty="0"/>
              <a:t> på sikt kan bli en felles plattform for BI og rapportering i HSØ – og at vi kan bruke den på en koordinert og effektiv måte.</a:t>
            </a:r>
          </a:p>
          <a:p>
            <a:r>
              <a:rPr lang="nb-NO" dirty="0"/>
              <a:t>Formålet med denne serien er derfor å bygge kompetanse i forkant av produksjonssetting, slik at vi står bedre rustet når plattformen åpnes fullt ut.</a:t>
            </a:r>
          </a:p>
          <a:p>
            <a:r>
              <a:rPr lang="nb-NO" dirty="0"/>
              <a:t>Samtidig ønsker vi å starte en dialog om beste praksis og mulige felles standarder – slik at deling og samarbeid på tvers av helseforetakene blir enklere.</a:t>
            </a:r>
          </a:p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041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707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693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901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45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329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308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224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835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959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780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3832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927FC00-9BC0-4D7A-9885-363517CB8709}" type="datetimeFigureOut">
              <a:rPr lang="nb-NO" smtClean="0"/>
              <a:t>03.03.2026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6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sahraei/microsoft-fabric-platform-enablement-hso/blob/main/exercises/01-create-lakehouse.m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9B4444-E000-BA13-2C70-0BE5956C8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Microsoft </a:t>
            </a:r>
            <a:r>
              <a:rPr lang="nb-NO" dirty="0" err="1"/>
              <a:t>Fabric</a:t>
            </a:r>
            <a:r>
              <a:rPr lang="nb-NO" dirty="0"/>
              <a:t> Platform Enablement Program – HSØ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0B40CAB-C1C6-3BE1-4DCE-5C4B27743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b="1" dirty="0"/>
              <a:t>Workshop 2: </a:t>
            </a:r>
            <a:r>
              <a:rPr lang="nn-NO" b="1" dirty="0"/>
              <a:t>Kom i gang med </a:t>
            </a:r>
            <a:r>
              <a:rPr lang="nn-NO" b="1" dirty="0" err="1"/>
              <a:t>lakehouses</a:t>
            </a:r>
            <a:r>
              <a:rPr lang="nn-NO" b="1" dirty="0"/>
              <a:t> i Microsoft </a:t>
            </a:r>
            <a:r>
              <a:rPr lang="nn-NO" b="1" dirty="0" err="1"/>
              <a:t>Fabric</a:t>
            </a:r>
            <a:endParaRPr lang="en-US" b="1" dirty="0"/>
          </a:p>
          <a:p>
            <a:endParaRPr lang="nb-NO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2327863-90A0-AB4B-E5F4-982B5844B345}"/>
              </a:ext>
            </a:extLst>
          </p:cNvPr>
          <p:cNvSpPr txBox="1"/>
          <p:nvPr/>
        </p:nvSpPr>
        <p:spPr>
          <a:xfrm>
            <a:off x="2006" y="6581001"/>
            <a:ext cx="12189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/>
              <a:t>Dette seminar‑opplegget tar utgangspunkt i Microsoft </a:t>
            </a:r>
            <a:r>
              <a:rPr lang="nb-NO" sz="1200" dirty="0" err="1"/>
              <a:t>Learn</a:t>
            </a:r>
            <a:r>
              <a:rPr lang="nb-NO" sz="1200" dirty="0"/>
              <a:t> sin DP‑600T00 kursplan</a:t>
            </a:r>
          </a:p>
        </p:txBody>
      </p:sp>
    </p:spTree>
    <p:extLst>
      <p:ext uri="{BB962C8B-B14F-4D97-AF65-F5344CB8AC3E}">
        <p14:creationId xmlns:p14="http://schemas.microsoft.com/office/powerpoint/2010/main" val="386563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46D3EF-1FC8-3314-F085-40016B9F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n-NO" dirty="0"/>
              <a:t>Introduksjon til </a:t>
            </a:r>
            <a:r>
              <a:rPr lang="nn-NO" dirty="0" err="1"/>
              <a:t>Lakehouse</a:t>
            </a:r>
            <a:r>
              <a:rPr lang="nn-NO" dirty="0"/>
              <a:t> i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44BC66-0488-2B7B-5A9E-3F8B3CA5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Hva er et Lakehouse?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Et lakehouse er fundamentet i Microsoft </a:t>
            </a:r>
            <a:r>
              <a:rPr lang="nb-NO" dirty="0" err="1"/>
              <a:t>Fabric</a:t>
            </a:r>
            <a:r>
              <a:rPr lang="nb-NO" dirty="0"/>
              <a:t>.</a:t>
            </a:r>
          </a:p>
          <a:p>
            <a:pPr marL="0" indent="0">
              <a:buNone/>
            </a:pPr>
            <a:r>
              <a:rPr lang="nb-NO" dirty="0"/>
              <a:t>Det kombinerer:</a:t>
            </a:r>
          </a:p>
          <a:p>
            <a:pPr lvl="1"/>
            <a:r>
              <a:rPr lang="nb-NO" dirty="0"/>
              <a:t>Skalerbar og fleksibel lagring fra en </a:t>
            </a:r>
            <a:r>
              <a:rPr lang="nb-NO" b="1" dirty="0"/>
              <a:t>datalake</a:t>
            </a:r>
            <a:endParaRPr lang="nb-NO" dirty="0"/>
          </a:p>
          <a:p>
            <a:pPr lvl="1"/>
            <a:r>
              <a:rPr lang="nb-NO" dirty="0"/>
              <a:t>Analysekapasiteten til et </a:t>
            </a:r>
            <a:r>
              <a:rPr lang="nb-NO" b="1" dirty="0"/>
              <a:t>datavarehus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Bygget på:</a:t>
            </a:r>
          </a:p>
          <a:p>
            <a:r>
              <a:rPr lang="nb-NO" dirty="0" err="1"/>
              <a:t>OneLake</a:t>
            </a:r>
            <a:r>
              <a:rPr lang="nb-NO" dirty="0"/>
              <a:t> (felles lagringslag)</a:t>
            </a:r>
          </a:p>
          <a:p>
            <a:r>
              <a:rPr lang="nb-NO" dirty="0"/>
              <a:t>Apache Spark</a:t>
            </a:r>
          </a:p>
          <a:p>
            <a:r>
              <a:rPr lang="nb-NO" dirty="0"/>
              <a:t>SQL-motor for spørringer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73767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D9C7-F1C6-E29C-8224-9C27DFEB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8F49EC-7F00-C660-6690-704B6893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n-NO" dirty="0"/>
              <a:t>Introduksjon til </a:t>
            </a:r>
            <a:r>
              <a:rPr lang="nn-NO" dirty="0" err="1"/>
              <a:t>Lakehouse</a:t>
            </a:r>
            <a:r>
              <a:rPr lang="nn-NO" dirty="0"/>
              <a:t> i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ACD3BF8-6651-985F-F61A-5CA0E43B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Hvorfor er dette viktig?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Virksomheter har ofte:</a:t>
            </a:r>
          </a:p>
          <a:p>
            <a:pPr lvl="1"/>
            <a:r>
              <a:rPr lang="nb-NO" dirty="0"/>
              <a:t>Strukturert data (ordre, kunder, lager)</a:t>
            </a:r>
          </a:p>
          <a:p>
            <a:pPr lvl="1"/>
            <a:r>
              <a:rPr lang="nb-NO" dirty="0"/>
              <a:t>Ustrukturert data (logger, sosiale medier, eksterne kilder)</a:t>
            </a:r>
          </a:p>
          <a:p>
            <a:pPr marL="0" indent="0">
              <a:buNone/>
            </a:pPr>
            <a:r>
              <a:rPr lang="nb-NO" dirty="0"/>
              <a:t>Lakehouse gjør det mulig å:</a:t>
            </a:r>
          </a:p>
          <a:p>
            <a:pPr lvl="1"/>
            <a:r>
              <a:rPr lang="nb-NO" dirty="0"/>
              <a:t>Samle alle datatyper på ett sted</a:t>
            </a:r>
          </a:p>
          <a:p>
            <a:pPr lvl="1"/>
            <a:r>
              <a:rPr lang="nb-NO" dirty="0"/>
              <a:t>Analysere med SQL</a:t>
            </a:r>
          </a:p>
          <a:p>
            <a:pPr lvl="1"/>
            <a:r>
              <a:rPr lang="nb-NO" dirty="0"/>
              <a:t>Skalere ved behov</a:t>
            </a:r>
          </a:p>
          <a:p>
            <a:pPr lvl="1"/>
            <a:r>
              <a:rPr lang="nb-NO" dirty="0"/>
              <a:t>Ta bedre og raskere beslutninger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5164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44F7E7-428D-24BB-EE63-BF3DA346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Utforsk </a:t>
            </a:r>
            <a:r>
              <a:rPr lang="nn-NO" dirty="0" err="1"/>
              <a:t>Lakehouse</a:t>
            </a:r>
            <a:r>
              <a:rPr lang="nn-NO" dirty="0"/>
              <a:t> i Microsoft </a:t>
            </a:r>
            <a:r>
              <a:rPr lang="nn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6778F47-0EF1-49BF-0FE1-04C4160A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dirty="0"/>
              <a:t>Et lakehouse:</a:t>
            </a:r>
          </a:p>
          <a:p>
            <a:pPr lvl="1"/>
            <a:r>
              <a:rPr lang="nb-NO" dirty="0"/>
              <a:t>Fremstår som en database</a:t>
            </a:r>
          </a:p>
          <a:p>
            <a:pPr lvl="1"/>
            <a:r>
              <a:rPr lang="nb-NO" dirty="0"/>
              <a:t>Bruker Delta-tabeller</a:t>
            </a:r>
          </a:p>
          <a:p>
            <a:pPr lvl="1"/>
            <a:r>
              <a:rPr lang="nb-NO" dirty="0"/>
              <a:t>Støtter både SQL og Spark</a:t>
            </a:r>
          </a:p>
          <a:p>
            <a:pPr lvl="1"/>
            <a:r>
              <a:rPr lang="nb-NO" dirty="0"/>
              <a:t>Skalerer automatisk i skyen</a:t>
            </a:r>
          </a:p>
          <a:p>
            <a:pPr marL="0" indent="0">
              <a:buNone/>
            </a:pPr>
            <a:r>
              <a:rPr lang="nb-NO" b="1" dirty="0"/>
              <a:t>Viktige fordeler</a:t>
            </a:r>
          </a:p>
          <a:p>
            <a:pPr lvl="1"/>
            <a:r>
              <a:rPr lang="nb-NO" dirty="0"/>
              <a:t>Støtter storskala databehandling og maskinlæring</a:t>
            </a:r>
          </a:p>
          <a:p>
            <a:pPr lvl="1"/>
            <a:r>
              <a:rPr lang="nb-NO" dirty="0" err="1"/>
              <a:t>Schema</a:t>
            </a:r>
            <a:r>
              <a:rPr lang="nb-NO" dirty="0"/>
              <a:t>-on-</a:t>
            </a:r>
            <a:r>
              <a:rPr lang="nb-NO" dirty="0" err="1"/>
              <a:t>read</a:t>
            </a:r>
            <a:r>
              <a:rPr lang="nb-NO" dirty="0"/>
              <a:t> (fleksibel struktur)</a:t>
            </a:r>
          </a:p>
          <a:p>
            <a:pPr lvl="1"/>
            <a:r>
              <a:rPr lang="nb-NO" dirty="0"/>
              <a:t>ACID(</a:t>
            </a:r>
            <a:r>
              <a:rPr lang="nb-NO" dirty="0" err="1"/>
              <a:t>Atomicity</a:t>
            </a:r>
            <a:r>
              <a:rPr lang="nb-NO" dirty="0"/>
              <a:t>, </a:t>
            </a:r>
            <a:r>
              <a:rPr lang="nb-NO" dirty="0" err="1"/>
              <a:t>Consistency</a:t>
            </a:r>
            <a:r>
              <a:rPr lang="nb-NO" dirty="0"/>
              <a:t>, </a:t>
            </a:r>
            <a:r>
              <a:rPr lang="nb-NO" dirty="0" err="1"/>
              <a:t>Isolation</a:t>
            </a:r>
            <a:r>
              <a:rPr lang="nb-NO" dirty="0"/>
              <a:t>, </a:t>
            </a:r>
            <a:r>
              <a:rPr lang="nb-NO" dirty="0" err="1"/>
              <a:t>Durability</a:t>
            </a:r>
            <a:r>
              <a:rPr lang="nb-NO" dirty="0"/>
              <a:t>)-transaksjoner via Delta Lake</a:t>
            </a:r>
          </a:p>
          <a:p>
            <a:pPr lvl="1"/>
            <a:r>
              <a:rPr lang="nb-NO" dirty="0"/>
              <a:t>Én felles plattform for dataingeniører, analytikere og dataforskere</a:t>
            </a:r>
          </a:p>
          <a:p>
            <a:pPr lvl="1"/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4542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F64C-B3F5-1B9A-7F56-E2485C9C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45073AA-8ED7-4E8E-18BB-8EDD71B4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DE984CF-F9F8-72AC-21AF-75130E41344C}"/>
              </a:ext>
            </a:extLst>
          </p:cNvPr>
          <p:cNvSpPr txBox="1"/>
          <p:nvPr/>
        </p:nvSpPr>
        <p:spPr>
          <a:xfrm>
            <a:off x="1" y="6605337"/>
            <a:ext cx="42952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050" dirty="0"/>
              <a:t>Kilde: Microsoft </a:t>
            </a:r>
            <a:r>
              <a:rPr lang="nb-NO" sz="1050" dirty="0" err="1"/>
              <a:t>Learn</a:t>
            </a:r>
            <a:r>
              <a:rPr lang="nb-NO" sz="1050" dirty="0"/>
              <a:t> – DP‑600T00: Microsoft </a:t>
            </a:r>
            <a:r>
              <a:rPr lang="nb-NO" sz="1050" dirty="0" err="1"/>
              <a:t>Fabric</a:t>
            </a:r>
            <a:r>
              <a:rPr lang="nb-NO" sz="1050" dirty="0"/>
              <a:t> Analytics </a:t>
            </a:r>
            <a:r>
              <a:rPr lang="nb-NO" sz="1050" dirty="0" err="1"/>
              <a:t>Engineer</a:t>
            </a:r>
            <a:endParaRPr lang="nb-NO" sz="1050" dirty="0"/>
          </a:p>
        </p:txBody>
      </p:sp>
      <p:pic>
        <p:nvPicPr>
          <p:cNvPr id="1026" name="Picture 2" descr="Diagram of a lakehouse, displaying the folder structure of a data lake and the relational capabilities of a data warehouse.">
            <a:extLst>
              <a:ext uri="{FF2B5EF4-FFF2-40B4-BE49-F238E27FC236}">
                <a16:creationId xmlns:a16="http://schemas.microsoft.com/office/drawing/2014/main" id="{41E5AE58-2C80-BF67-A2F9-3E01242D9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5675"/>
            <a:ext cx="12192000" cy="494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75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AE03-54E0-9A9E-6E96-BC2B8EED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1CA0E0C-FD69-0E5B-5D8A-0554DAA92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Laste inn data i et Lakehouse (ETL)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F29EA95-17FC-4001-F7C2-5DB9CAF60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25082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 err="1"/>
              <a:t>Extract</a:t>
            </a:r>
            <a:r>
              <a:rPr lang="nb-NO" b="1" dirty="0"/>
              <a:t> (Hente data)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Lokale filer</a:t>
            </a:r>
          </a:p>
          <a:p>
            <a:pPr marL="0" indent="0">
              <a:buNone/>
            </a:pPr>
            <a:r>
              <a:rPr lang="nb-NO" dirty="0"/>
              <a:t>Databaser</a:t>
            </a:r>
          </a:p>
          <a:p>
            <a:pPr marL="0" indent="0">
              <a:buNone/>
            </a:pPr>
            <a:r>
              <a:rPr lang="nb-NO" dirty="0"/>
              <a:t>API-er</a:t>
            </a:r>
          </a:p>
          <a:p>
            <a:pPr marL="0" indent="0">
              <a:buNone/>
            </a:pPr>
            <a:r>
              <a:rPr lang="nb-NO" dirty="0"/>
              <a:t>Ekstern lagring (via </a:t>
            </a:r>
            <a:r>
              <a:rPr lang="nb-NO" dirty="0" err="1"/>
              <a:t>shortcuts</a:t>
            </a:r>
            <a:r>
              <a:rPr lang="nb-NO" dirty="0"/>
              <a:t>)</a:t>
            </a:r>
          </a:p>
          <a:p>
            <a:pPr lvl="1"/>
            <a:endParaRPr lang="nb-NO" dirty="0"/>
          </a:p>
          <a:p>
            <a:endParaRPr lang="nb-NO" dirty="0"/>
          </a:p>
        </p:txBody>
      </p:sp>
      <p:sp>
        <p:nvSpPr>
          <p:cNvPr id="4" name="Plassholder for innhold 2">
            <a:extLst>
              <a:ext uri="{FF2B5EF4-FFF2-40B4-BE49-F238E27FC236}">
                <a16:creationId xmlns:a16="http://schemas.microsoft.com/office/drawing/2014/main" id="{88CF4919-22B0-8656-665A-DA824432A04D}"/>
              </a:ext>
            </a:extLst>
          </p:cNvPr>
          <p:cNvSpPr txBox="1">
            <a:spLocks/>
          </p:cNvSpPr>
          <p:nvPr/>
        </p:nvSpPr>
        <p:spPr>
          <a:xfrm>
            <a:off x="3587750" y="1690688"/>
            <a:ext cx="2508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b="1" dirty="0"/>
              <a:t>Transform (Bearbeide)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Notebooks (Spark)</a:t>
            </a:r>
          </a:p>
          <a:p>
            <a:pPr marL="0" indent="0">
              <a:buNone/>
            </a:pPr>
            <a:r>
              <a:rPr lang="nb-NO" dirty="0" err="1"/>
              <a:t>Dataflows</a:t>
            </a:r>
            <a:r>
              <a:rPr lang="nb-NO" dirty="0"/>
              <a:t> Gen2</a:t>
            </a:r>
          </a:p>
          <a:p>
            <a:pPr marL="0" indent="0">
              <a:buNone/>
            </a:pPr>
            <a:r>
              <a:rPr lang="nb-NO" dirty="0"/>
              <a:t>Pipelines</a:t>
            </a:r>
          </a:p>
          <a:p>
            <a:pPr lvl="1"/>
            <a:endParaRPr lang="nb-NO" dirty="0"/>
          </a:p>
          <a:p>
            <a:endParaRPr lang="nb-NO" dirty="0"/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9AAF0190-132A-1D84-DD42-1EEFF0DB0094}"/>
              </a:ext>
            </a:extLst>
          </p:cNvPr>
          <p:cNvSpPr txBox="1">
            <a:spLocks/>
          </p:cNvSpPr>
          <p:nvPr/>
        </p:nvSpPr>
        <p:spPr>
          <a:xfrm>
            <a:off x="6216650" y="1690688"/>
            <a:ext cx="2508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b="1" dirty="0" err="1"/>
              <a:t>Load</a:t>
            </a:r>
            <a:r>
              <a:rPr lang="nb-NO" b="1" dirty="0"/>
              <a:t> (Lagre)</a:t>
            </a:r>
            <a:endParaRPr lang="nb-NO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Filer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Delta-tabeller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Bruk Lakehouse Explorer til å se: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Filer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Tabeller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 err="1"/>
              <a:t>Shortcuts</a:t>
            </a:r>
            <a:endParaRPr lang="nb-NO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Mapper</a:t>
            </a:r>
          </a:p>
          <a:p>
            <a:pPr lvl="1"/>
            <a:endParaRPr lang="nb-NO" dirty="0"/>
          </a:p>
          <a:p>
            <a:endParaRPr lang="nb-NO" dirty="0"/>
          </a:p>
        </p:txBody>
      </p:sp>
      <p:sp>
        <p:nvSpPr>
          <p:cNvPr id="6" name="Plassholder for innhold 2">
            <a:extLst>
              <a:ext uri="{FF2B5EF4-FFF2-40B4-BE49-F238E27FC236}">
                <a16:creationId xmlns:a16="http://schemas.microsoft.com/office/drawing/2014/main" id="{1E115622-06BE-C439-97C6-C9B3740A0541}"/>
              </a:ext>
            </a:extLst>
          </p:cNvPr>
          <p:cNvSpPr txBox="1">
            <a:spLocks/>
          </p:cNvSpPr>
          <p:nvPr/>
        </p:nvSpPr>
        <p:spPr>
          <a:xfrm>
            <a:off x="8845550" y="1690688"/>
            <a:ext cx="29814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Bruk Lakehouse Explorer til å se: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Filer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Tabeller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 err="1"/>
              <a:t>Shortcuts</a:t>
            </a:r>
            <a:endParaRPr lang="nb-NO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b-NO" dirty="0"/>
              <a:t>Mapper</a:t>
            </a:r>
          </a:p>
          <a:p>
            <a:pPr lvl="1"/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3536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B94930-778F-06A9-F4C5-B5125C2C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Sikkerhet og styring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EAADED-A71A-5323-C92A-B245BCBF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Tilgang styres via:</a:t>
            </a:r>
          </a:p>
          <a:p>
            <a:pPr lvl="1"/>
            <a:r>
              <a:rPr lang="nb-NO" dirty="0"/>
              <a:t>Arbeidsområderoller (for samarbeid)</a:t>
            </a:r>
          </a:p>
          <a:p>
            <a:pPr lvl="1"/>
            <a:r>
              <a:rPr lang="nb-NO" dirty="0"/>
              <a:t>Elementdeling (lesetilgang)</a:t>
            </a:r>
          </a:p>
          <a:p>
            <a:pPr marL="457200" lvl="1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Støtter datastyring som:</a:t>
            </a:r>
          </a:p>
          <a:p>
            <a:pPr lvl="1"/>
            <a:r>
              <a:rPr lang="nb-NO" dirty="0"/>
              <a:t>Sensitivitetsmerking</a:t>
            </a:r>
          </a:p>
          <a:p>
            <a:pPr lvl="1"/>
            <a:r>
              <a:rPr lang="nb-NO" dirty="0"/>
              <a:t>Integrasjon med Microsoft </a:t>
            </a:r>
            <a:r>
              <a:rPr lang="nb-NO" dirty="0" err="1"/>
              <a:t>Purview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8353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AEF125-0F78-D5BE-65D8-23F49A20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Arbeide med Lakehouses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F08A32-986D-F32C-2F0E-F3104B13D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Når du oppretter et lakehouse, opprettes automatisk:</a:t>
            </a:r>
          </a:p>
          <a:p>
            <a:pPr marL="514350" indent="-514350">
              <a:buFont typeface="+mj-lt"/>
              <a:buAutoNum type="arabicPeriod"/>
            </a:pPr>
            <a:r>
              <a:rPr lang="nb-NO" b="1" dirty="0"/>
              <a:t>Lakehouse</a:t>
            </a:r>
            <a:endParaRPr lang="nb-NO" dirty="0"/>
          </a:p>
          <a:p>
            <a:pPr lvl="1"/>
            <a:r>
              <a:rPr lang="nb-NO" dirty="0"/>
              <a:t>Filer, mapper, tabeller og </a:t>
            </a:r>
            <a:r>
              <a:rPr lang="nb-NO" dirty="0" err="1"/>
              <a:t>shortcuts</a:t>
            </a:r>
            <a:endParaRPr lang="nb-NO" dirty="0"/>
          </a:p>
          <a:p>
            <a:pPr marL="514350" indent="-514350">
              <a:buFont typeface="+mj-lt"/>
              <a:buAutoNum type="arabicPeriod"/>
            </a:pPr>
            <a:r>
              <a:rPr lang="nb-NO" b="1" dirty="0"/>
              <a:t>Semantisk modell (standard)</a:t>
            </a:r>
            <a:endParaRPr lang="nb-NO" dirty="0"/>
          </a:p>
          <a:p>
            <a:pPr lvl="1"/>
            <a:r>
              <a:rPr lang="nb-NO" dirty="0"/>
              <a:t>Klar som datakilde for Power BI</a:t>
            </a:r>
          </a:p>
          <a:p>
            <a:pPr marL="514350" indent="-514350">
              <a:buFont typeface="+mj-lt"/>
              <a:buAutoNum type="arabicPeriod"/>
            </a:pPr>
            <a:r>
              <a:rPr lang="nb-NO" b="1" dirty="0"/>
              <a:t>SQL Analytics </a:t>
            </a:r>
            <a:r>
              <a:rPr lang="nb-NO" b="1" dirty="0" err="1"/>
              <a:t>Endpoint</a:t>
            </a:r>
            <a:endParaRPr lang="nb-NO" dirty="0"/>
          </a:p>
          <a:p>
            <a:pPr lvl="1"/>
            <a:r>
              <a:rPr lang="nb-NO" dirty="0"/>
              <a:t>Lesetilgang via SQL</a:t>
            </a:r>
          </a:p>
        </p:txBody>
      </p:sp>
    </p:spTree>
    <p:extLst>
      <p:ext uri="{BB962C8B-B14F-4D97-AF65-F5344CB8AC3E}">
        <p14:creationId xmlns:p14="http://schemas.microsoft.com/office/powerpoint/2010/main" val="304961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4F3F-20B4-2D96-0115-1CD70EE2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Sylinder 8">
            <a:extLst>
              <a:ext uri="{FF2B5EF4-FFF2-40B4-BE49-F238E27FC236}">
                <a16:creationId xmlns:a16="http://schemas.microsoft.com/office/drawing/2014/main" id="{DA472C98-03BF-D6BD-EAB0-3BDED56472B0}"/>
              </a:ext>
            </a:extLst>
          </p:cNvPr>
          <p:cNvSpPr txBox="1"/>
          <p:nvPr/>
        </p:nvSpPr>
        <p:spPr>
          <a:xfrm>
            <a:off x="1" y="6605337"/>
            <a:ext cx="42952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050" dirty="0"/>
              <a:t>Kilde: Microsoft </a:t>
            </a:r>
            <a:r>
              <a:rPr lang="nb-NO" sz="1050" dirty="0" err="1"/>
              <a:t>Learn</a:t>
            </a:r>
            <a:r>
              <a:rPr lang="nb-NO" sz="1050" dirty="0"/>
              <a:t> – DP‑600T00: Microsoft </a:t>
            </a:r>
            <a:r>
              <a:rPr lang="nb-NO" sz="1050" dirty="0" err="1"/>
              <a:t>Fabric</a:t>
            </a:r>
            <a:r>
              <a:rPr lang="nb-NO" sz="1050" dirty="0"/>
              <a:t> Analytics </a:t>
            </a:r>
            <a:r>
              <a:rPr lang="nb-NO" sz="1050" dirty="0" err="1"/>
              <a:t>Engineer</a:t>
            </a:r>
            <a:endParaRPr lang="nb-NO" sz="1050" dirty="0"/>
          </a:p>
        </p:txBody>
      </p:sp>
      <p:pic>
        <p:nvPicPr>
          <p:cNvPr id="2050" name="Picture 2" descr="Screenshot of the three Lakehouse items as described.">
            <a:extLst>
              <a:ext uri="{FF2B5EF4-FFF2-40B4-BE49-F238E27FC236}">
                <a16:creationId xmlns:a16="http://schemas.microsoft.com/office/drawing/2014/main" id="{5E6A076D-2603-CCFD-6CE4-0A8EE01DA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92" y="1600024"/>
            <a:ext cx="10665815" cy="365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96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9F6EF-1119-B4AE-3C30-F8D6330BF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5B136F-D496-F6E4-3412-84EC4589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Arbeide med Lakehouses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1EC6D21-5C90-89A2-EE19-43590F203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To arbeidsmoduser</a:t>
            </a:r>
          </a:p>
          <a:p>
            <a:pPr marL="0" indent="0">
              <a:buNone/>
            </a:pPr>
            <a:r>
              <a:rPr lang="nb-NO" b="1" dirty="0"/>
              <a:t>Lakehouse-modus</a:t>
            </a:r>
            <a:endParaRPr lang="nb-NO" dirty="0"/>
          </a:p>
          <a:p>
            <a:pPr lvl="1"/>
            <a:r>
              <a:rPr lang="nb-NO" dirty="0"/>
              <a:t>Laste opp filer</a:t>
            </a:r>
          </a:p>
          <a:p>
            <a:pPr lvl="1"/>
            <a:r>
              <a:rPr lang="nb-NO" dirty="0"/>
              <a:t>Opprette tabeller</a:t>
            </a:r>
          </a:p>
          <a:p>
            <a:pPr lvl="1"/>
            <a:r>
              <a:rPr lang="nb-NO" dirty="0"/>
              <a:t>Organisere mapper</a:t>
            </a:r>
          </a:p>
          <a:p>
            <a:pPr marL="0" indent="0">
              <a:buNone/>
            </a:pPr>
            <a:r>
              <a:rPr lang="nb-NO" b="1" dirty="0"/>
              <a:t>SQL Analytics </a:t>
            </a:r>
            <a:r>
              <a:rPr lang="nb-NO" b="1" dirty="0" err="1"/>
              <a:t>Endpoint</a:t>
            </a:r>
            <a:endParaRPr lang="nb-NO" dirty="0"/>
          </a:p>
          <a:p>
            <a:pPr lvl="1"/>
            <a:r>
              <a:rPr lang="nb-NO" dirty="0"/>
              <a:t>Kjøre SQL-spørringer</a:t>
            </a:r>
          </a:p>
          <a:p>
            <a:pPr lvl="1"/>
            <a:r>
              <a:rPr lang="nb-NO" dirty="0"/>
              <a:t>Utforske relasjonell struktur</a:t>
            </a:r>
          </a:p>
        </p:txBody>
      </p:sp>
      <p:pic>
        <p:nvPicPr>
          <p:cNvPr id="3074" name="Picture 2" descr="Screenshot of the two lakehouse Explorer modes.">
            <a:extLst>
              <a:ext uri="{FF2B5EF4-FFF2-40B4-BE49-F238E27FC236}">
                <a16:creationId xmlns:a16="http://schemas.microsoft.com/office/drawing/2014/main" id="{58E7FC3D-82D4-6E7E-1ED4-8C0B3CAD1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357" y="2438400"/>
            <a:ext cx="409575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7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28F79-3760-F2DE-0F50-42D6D7C1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E4ADDFB-BE02-A7CF-163C-92B8074C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Arbeide med Lakehouses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C8560C-2267-F7B9-2682-ABB7343C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Metoder for innlasting</a:t>
            </a:r>
          </a:p>
          <a:p>
            <a:pPr lvl="1"/>
            <a:r>
              <a:rPr lang="nb-NO" dirty="0"/>
              <a:t>Laste opp filer</a:t>
            </a:r>
          </a:p>
          <a:p>
            <a:pPr lvl="1"/>
            <a:r>
              <a:rPr lang="nb-NO" dirty="0" err="1"/>
              <a:t>Dataflows</a:t>
            </a:r>
            <a:r>
              <a:rPr lang="nb-NO" dirty="0"/>
              <a:t> Gen2 (Power Query)</a:t>
            </a:r>
          </a:p>
          <a:p>
            <a:pPr lvl="1"/>
            <a:r>
              <a:rPr lang="nb-NO" dirty="0"/>
              <a:t>Notebooks (Spark)</a:t>
            </a:r>
          </a:p>
          <a:p>
            <a:pPr lvl="1"/>
            <a:r>
              <a:rPr lang="nb-NO" dirty="0"/>
              <a:t>Data </a:t>
            </a:r>
            <a:r>
              <a:rPr lang="nb-NO" dirty="0" err="1"/>
              <a:t>Factory</a:t>
            </a:r>
            <a:r>
              <a:rPr lang="nb-NO" dirty="0"/>
              <a:t> pipelines</a:t>
            </a:r>
          </a:p>
          <a:p>
            <a:pPr marL="0" indent="0">
              <a:buNone/>
            </a:pPr>
            <a:r>
              <a:rPr lang="nb-NO" dirty="0"/>
              <a:t>Avansert:</a:t>
            </a:r>
          </a:p>
          <a:p>
            <a:pPr lvl="1"/>
            <a:r>
              <a:rPr lang="nb-NO" dirty="0"/>
              <a:t>Spark </a:t>
            </a:r>
            <a:r>
              <a:rPr lang="nb-NO" dirty="0" err="1"/>
              <a:t>job</a:t>
            </a:r>
            <a:r>
              <a:rPr lang="nb-NO" dirty="0"/>
              <a:t> </a:t>
            </a:r>
            <a:r>
              <a:rPr lang="nb-NO" dirty="0" err="1"/>
              <a:t>definitions</a:t>
            </a:r>
            <a:r>
              <a:rPr lang="nb-NO" dirty="0"/>
              <a:t> (batch/</a:t>
            </a:r>
            <a:r>
              <a:rPr lang="nb-NO" dirty="0" err="1"/>
              <a:t>streaming</a:t>
            </a:r>
            <a:r>
              <a:rPr lang="nb-N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6006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6A117-E7D9-D8F9-D2BE-9E8CA3DB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4B8E98-C681-E8A1-9132-66F3543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Arbeide med Lakehouses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A7BEF4-5147-50A9-67F0-F73198BDB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b-NO" b="1" dirty="0"/>
              <a:t>Bruke </a:t>
            </a:r>
            <a:r>
              <a:rPr lang="nb-NO" b="1" dirty="0" err="1"/>
              <a:t>Shortcuts</a:t>
            </a:r>
            <a:endParaRPr lang="nb-NO" b="1" dirty="0"/>
          </a:p>
          <a:p>
            <a:pPr lvl="1"/>
            <a:r>
              <a:rPr lang="nb-NO" dirty="0" err="1"/>
              <a:t>Shortcuts</a:t>
            </a:r>
            <a:r>
              <a:rPr lang="nb-NO" dirty="0"/>
              <a:t> gjør at du kan:</a:t>
            </a:r>
          </a:p>
          <a:p>
            <a:pPr lvl="1"/>
            <a:r>
              <a:rPr lang="nb-NO" dirty="0"/>
              <a:t>Koble til data uten å kopiere dem</a:t>
            </a:r>
          </a:p>
          <a:p>
            <a:pPr lvl="1"/>
            <a:r>
              <a:rPr lang="nb-NO" dirty="0"/>
              <a:t>Beholde data i original lagring</a:t>
            </a:r>
          </a:p>
          <a:p>
            <a:pPr lvl="1"/>
            <a:r>
              <a:rPr lang="nb-NO" dirty="0"/>
              <a:t>Samle data fra ulike kilder</a:t>
            </a:r>
          </a:p>
          <a:p>
            <a:pPr marL="0" indent="0">
              <a:buNone/>
            </a:pPr>
            <a:r>
              <a:rPr lang="nb-NO" dirty="0"/>
              <a:t>Kan peke til:</a:t>
            </a:r>
          </a:p>
          <a:p>
            <a:pPr lvl="1"/>
            <a:r>
              <a:rPr lang="nb-NO" dirty="0"/>
              <a:t>Andre lakehouses</a:t>
            </a:r>
          </a:p>
          <a:p>
            <a:pPr lvl="1"/>
            <a:r>
              <a:rPr lang="nb-NO" dirty="0"/>
              <a:t>Datavarehus</a:t>
            </a:r>
          </a:p>
          <a:p>
            <a:pPr lvl="1"/>
            <a:r>
              <a:rPr lang="nb-NO" dirty="0"/>
              <a:t>KQL-databaser</a:t>
            </a:r>
          </a:p>
          <a:p>
            <a:pPr lvl="1"/>
            <a:r>
              <a:rPr lang="nb-NO" dirty="0"/>
              <a:t>Eksterne lagringskontoer</a:t>
            </a:r>
          </a:p>
          <a:p>
            <a:pPr marL="0" indent="0">
              <a:buNone/>
            </a:pPr>
            <a:r>
              <a:rPr lang="nb-NO" dirty="0"/>
              <a:t>Tilganger styres gjennom </a:t>
            </a:r>
            <a:r>
              <a:rPr lang="nb-NO" dirty="0" err="1"/>
              <a:t>OneLake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314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C394D8-19A0-5959-4E18-76795794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Utforske og transformere data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3D99E7-8454-146C-704F-B36B8612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Transformere og laste data</a:t>
            </a:r>
          </a:p>
          <a:p>
            <a:pPr marL="0" indent="0">
              <a:buNone/>
            </a:pPr>
            <a:r>
              <a:rPr lang="nb-NO" dirty="0"/>
              <a:t>Data må ofte bearbeides før analyse.</a:t>
            </a:r>
          </a:p>
          <a:p>
            <a:pPr marL="0" indent="0">
              <a:buNone/>
            </a:pPr>
            <a:r>
              <a:rPr lang="nb-NO" dirty="0"/>
              <a:t>Bruk:</a:t>
            </a:r>
          </a:p>
          <a:p>
            <a:pPr lvl="1"/>
            <a:r>
              <a:rPr lang="nb-NO" dirty="0"/>
              <a:t>Notebooks (</a:t>
            </a:r>
            <a:r>
              <a:rPr lang="nb-NO" dirty="0" err="1"/>
              <a:t>PySpark</a:t>
            </a:r>
            <a:r>
              <a:rPr lang="nb-NO" dirty="0"/>
              <a:t>, SQL, Scala)</a:t>
            </a:r>
          </a:p>
          <a:p>
            <a:pPr lvl="1"/>
            <a:r>
              <a:rPr lang="nb-NO" dirty="0" err="1"/>
              <a:t>Dataflows</a:t>
            </a:r>
            <a:r>
              <a:rPr lang="nb-NO" dirty="0"/>
              <a:t> Gen2</a:t>
            </a:r>
          </a:p>
          <a:p>
            <a:pPr lvl="1"/>
            <a:r>
              <a:rPr lang="nb-NO" dirty="0"/>
              <a:t>Pipelines (visuell orkestrering)</a:t>
            </a:r>
          </a:p>
          <a:p>
            <a:pPr marL="0" indent="0">
              <a:buNone/>
            </a:pPr>
            <a:r>
              <a:rPr lang="nb-NO" dirty="0"/>
              <a:t>Last resultatet som:</a:t>
            </a:r>
          </a:p>
          <a:p>
            <a:pPr lvl="1"/>
            <a:r>
              <a:rPr lang="nb-NO" dirty="0"/>
              <a:t>Filer</a:t>
            </a:r>
          </a:p>
          <a:p>
            <a:pPr lvl="1"/>
            <a:r>
              <a:rPr lang="nb-NO" dirty="0"/>
              <a:t>Delta-tabeller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4140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81AA-2215-B3D4-C638-2F71FA02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0EE62A-A4F4-D90C-5202-5148A432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Utforske og transformere data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ABB65BF-E844-2516-E4F9-109B6DAE1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Analysere og visualisere</a:t>
            </a:r>
          </a:p>
          <a:p>
            <a:pPr marL="0" indent="0">
              <a:buNone/>
            </a:pPr>
            <a:r>
              <a:rPr lang="nb-NO" dirty="0"/>
              <a:t>Når data er klare:</a:t>
            </a:r>
          </a:p>
          <a:p>
            <a:pPr marL="0" indent="0">
              <a:buNone/>
            </a:pPr>
            <a:r>
              <a:rPr lang="nb-NO" b="1" dirty="0"/>
              <a:t>Dataforskere</a:t>
            </a:r>
            <a:endParaRPr lang="nb-NO" dirty="0"/>
          </a:p>
          <a:p>
            <a:pPr lvl="1"/>
            <a:r>
              <a:rPr lang="nb-NO" dirty="0"/>
              <a:t>Bruker </a:t>
            </a:r>
            <a:r>
              <a:rPr lang="nb-NO" dirty="0" err="1"/>
              <a:t>notebooks</a:t>
            </a:r>
            <a:endParaRPr lang="nb-NO" dirty="0"/>
          </a:p>
          <a:p>
            <a:pPr lvl="1"/>
            <a:r>
              <a:rPr lang="nb-NO" dirty="0"/>
              <a:t>Trener maskinlæringsmodeller</a:t>
            </a:r>
          </a:p>
          <a:p>
            <a:pPr marL="0" indent="0">
              <a:buNone/>
            </a:pPr>
            <a:r>
              <a:rPr lang="nb-NO" b="1" dirty="0"/>
              <a:t>Analytikere</a:t>
            </a:r>
            <a:endParaRPr lang="nb-NO" dirty="0"/>
          </a:p>
          <a:p>
            <a:pPr lvl="1"/>
            <a:r>
              <a:rPr lang="nb-NO" dirty="0"/>
              <a:t>Spørrer via SQL </a:t>
            </a:r>
            <a:r>
              <a:rPr lang="nb-NO" dirty="0" err="1"/>
              <a:t>endpoint</a:t>
            </a:r>
            <a:endParaRPr lang="nb-NO" dirty="0"/>
          </a:p>
          <a:p>
            <a:pPr lvl="1"/>
            <a:r>
              <a:rPr lang="nb-NO" b="1" dirty="0"/>
              <a:t>Rapportutviklere</a:t>
            </a:r>
            <a:endParaRPr lang="nb-NO" dirty="0"/>
          </a:p>
          <a:p>
            <a:pPr lvl="1"/>
            <a:r>
              <a:rPr lang="nb-NO" dirty="0"/>
              <a:t>Bygger rapporter i Power BI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6715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06BC-EAE5-77B0-9F21-F25395A8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280E94-9020-7179-21E4-8807D596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Utforske og transformere data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CD09598-CD8A-1C8B-D7F9-62C94EDE3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b="1" dirty="0"/>
              <a:t>Én plattform – ende-til-ende analyse</a:t>
            </a:r>
          </a:p>
          <a:p>
            <a:pPr marL="0" indent="0">
              <a:buNone/>
            </a:pPr>
            <a:r>
              <a:rPr lang="nb-NO" dirty="0"/>
              <a:t>Lakehouse + Power BI gir:</a:t>
            </a:r>
          </a:p>
          <a:p>
            <a:pPr lvl="1"/>
            <a:r>
              <a:rPr lang="nb-NO" dirty="0"/>
              <a:t>Sentralisert lagring</a:t>
            </a:r>
          </a:p>
          <a:p>
            <a:pPr lvl="1"/>
            <a:r>
              <a:rPr lang="nb-NO" dirty="0"/>
              <a:t>Styrt tilgang</a:t>
            </a:r>
          </a:p>
          <a:p>
            <a:pPr lvl="1"/>
            <a:r>
              <a:rPr lang="nb-NO" dirty="0"/>
              <a:t>SQL-analyse</a:t>
            </a:r>
          </a:p>
          <a:p>
            <a:pPr lvl="1"/>
            <a:r>
              <a:rPr lang="nb-NO" dirty="0"/>
              <a:t>Maskinlæring</a:t>
            </a:r>
          </a:p>
          <a:p>
            <a:pPr lvl="1"/>
            <a:r>
              <a:rPr lang="nb-NO" dirty="0"/>
              <a:t>Rapportering og </a:t>
            </a:r>
            <a:r>
              <a:rPr lang="nb-NO" dirty="0" err="1"/>
              <a:t>dashboards</a:t>
            </a:r>
            <a:endParaRPr lang="nb-NO" dirty="0"/>
          </a:p>
          <a:p>
            <a:pPr marL="0" indent="0">
              <a:buNone/>
            </a:pPr>
            <a:r>
              <a:rPr lang="nb-NO" dirty="0"/>
              <a:t>Alt i én </a:t>
            </a:r>
            <a:r>
              <a:rPr lang="nb-NO" dirty="0" err="1"/>
              <a:t>SaaS</a:t>
            </a:r>
            <a:r>
              <a:rPr lang="nb-NO" dirty="0"/>
              <a:t>-plattform.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13755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85BC41-3B5B-DFF8-AEC7-8B92045F5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b="1" dirty="0"/>
              <a:t>Øvelse – Opprett et lakehouse i Microsoft </a:t>
            </a:r>
            <a:r>
              <a:rPr lang="nb-NO" b="1" dirty="0" err="1"/>
              <a:t>Fabric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F3A1E3D-E0FE-A33B-B2C7-94665652A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>
                <a:hlinkClick r:id="rId2"/>
              </a:rPr>
              <a:t>microsoft-fabric-platform-enablement-hso/exercises/01-create-lakehouse.md at </a:t>
            </a:r>
            <a:r>
              <a:rPr lang="nb-NO" dirty="0" err="1">
                <a:hlinkClick r:id="rId2"/>
              </a:rPr>
              <a:t>main</a:t>
            </a:r>
            <a:r>
              <a:rPr lang="nb-NO" dirty="0">
                <a:hlinkClick r:id="rId2"/>
              </a:rPr>
              <a:t> · </a:t>
            </a:r>
            <a:r>
              <a:rPr lang="nb-NO" dirty="0" err="1">
                <a:hlinkClick r:id="rId2"/>
              </a:rPr>
              <a:t>masahraei</a:t>
            </a:r>
            <a:r>
              <a:rPr lang="nb-NO" dirty="0">
                <a:hlinkClick r:id="rId2"/>
              </a:rPr>
              <a:t>/</a:t>
            </a:r>
            <a:r>
              <a:rPr lang="nb-NO" dirty="0" err="1">
                <a:hlinkClick r:id="rId2"/>
              </a:rPr>
              <a:t>microsoft-fabric-platform-enablement-hso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275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</TotalTime>
  <Words>1018</Words>
  <Application>Microsoft Office PowerPoint</Application>
  <PresentationFormat>Widescreen</PresentationFormat>
  <Paragraphs>163</Paragraphs>
  <Slides>16</Slides>
  <Notes>6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Microsoft Fabric Platform Enablement Program – HSØ</vt:lpstr>
      <vt:lpstr>Introduksjon til Lakehouse i Microsoft Fabric</vt:lpstr>
      <vt:lpstr>Introduksjon til Lakehouse i Microsoft Fabric</vt:lpstr>
      <vt:lpstr>Utforsk Lakehouse i Microsoft Fabric</vt:lpstr>
      <vt:lpstr>PowerPoint-presentasjon</vt:lpstr>
      <vt:lpstr>Laste inn data i et Lakehouse (ETL)</vt:lpstr>
      <vt:lpstr>Sikkerhet og styring</vt:lpstr>
      <vt:lpstr>Arbeide med Lakehouses</vt:lpstr>
      <vt:lpstr>PowerPoint-presentasjon</vt:lpstr>
      <vt:lpstr>Arbeide med Lakehouses</vt:lpstr>
      <vt:lpstr>Arbeide med Lakehouses</vt:lpstr>
      <vt:lpstr>Arbeide med Lakehouses</vt:lpstr>
      <vt:lpstr>Utforske og transformere data</vt:lpstr>
      <vt:lpstr>Utforske og transformere data</vt:lpstr>
      <vt:lpstr>Utforske og transformere data</vt:lpstr>
      <vt:lpstr>Øvelse – Opprett et lakehouse i Microsoft Fabric</vt:lpstr>
    </vt:vector>
  </TitlesOfParts>
  <Company>Helse Sor-Ost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Mohammadamin Sahraei</dc:creator>
  <cp:lastModifiedBy>Mohammadamin Sahraei</cp:lastModifiedBy>
  <cp:revision>11</cp:revision>
  <dcterms:created xsi:type="dcterms:W3CDTF">2026-02-18T12:59:19Z</dcterms:created>
  <dcterms:modified xsi:type="dcterms:W3CDTF">2026-03-03T14:36:43Z</dcterms:modified>
</cp:coreProperties>
</file>