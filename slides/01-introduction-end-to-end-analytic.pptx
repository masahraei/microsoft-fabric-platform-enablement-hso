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8" r:id="rId12"/>
    <p:sldId id="264" r:id="rId13"/>
    <p:sldId id="269" r:id="rId14"/>
    <p:sldId id="271" r:id="rId15"/>
    <p:sldId id="270" r:id="rId16"/>
    <p:sldId id="272" r:id="rId17"/>
    <p:sldId id="265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B905-4A17-4C59-B503-877828FB4C10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91F26-338A-419B-9087-0422F6EF9B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40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883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Hei alle sammen, og velkommen til Microsoft </a:t>
            </a:r>
            <a:r>
              <a:rPr lang="nb-NO" dirty="0" err="1"/>
              <a:t>Fabric</a:t>
            </a:r>
            <a:r>
              <a:rPr lang="nb-NO" dirty="0"/>
              <a:t> Platform Enablement Program – HSØ.</a:t>
            </a:r>
          </a:p>
          <a:p>
            <a:r>
              <a:rPr lang="nb-NO" dirty="0"/>
              <a:t>Dette er første samling i en serie hvor målet er å bygge forståelse og kompetanse rundt Microsoft </a:t>
            </a:r>
            <a:r>
              <a:rPr lang="nb-NO" dirty="0" err="1"/>
              <a:t>Fabric</a:t>
            </a:r>
            <a:r>
              <a:rPr lang="nb-NO" dirty="0"/>
              <a:t> før plattformen går i produksjon.</a:t>
            </a:r>
          </a:p>
          <a:p>
            <a:r>
              <a:rPr lang="nb-NO" dirty="0"/>
              <a:t>I dag starter vi med en introduksjon og ser på hva ende-til-ende-analyse betyr i praksis.</a:t>
            </a:r>
          </a:p>
          <a:p>
            <a:r>
              <a:rPr lang="nb-NO" dirty="0"/>
              <a:t>Det er viktig for meg at dette er en åpen arena – alle er velkommen til å delta og stille spørsmål underveis.</a:t>
            </a:r>
          </a:p>
          <a:p>
            <a:r>
              <a:rPr lang="nb-NO" dirty="0"/>
              <a:t>Alt materiale vil deles på GitHub, og seminarene tas opp slik at flere kan få tilgang i etterkant.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155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Jeg heter Mohammad Amin Sahraei og jobber som Data </a:t>
            </a:r>
            <a:r>
              <a:rPr lang="nb-NO" dirty="0" err="1"/>
              <a:t>Engineer</a:t>
            </a:r>
            <a:r>
              <a:rPr lang="nb-NO" dirty="0"/>
              <a:t> i Data og Analyse-avdelingen i VVHF.</a:t>
            </a:r>
          </a:p>
          <a:p>
            <a:r>
              <a:rPr lang="nb-NO" dirty="0"/>
              <a:t>Jeg har jobbet med Microsoft </a:t>
            </a:r>
            <a:r>
              <a:rPr lang="nb-NO" dirty="0" err="1"/>
              <a:t>Fabric</a:t>
            </a:r>
            <a:r>
              <a:rPr lang="nb-NO" dirty="0"/>
              <a:t> siden plattformen ble innført, og har fulgt utviklingen tett både teknisk og strategisk.</a:t>
            </a:r>
          </a:p>
          <a:p>
            <a:r>
              <a:rPr lang="nb-NO" dirty="0"/>
              <a:t>Jeg er sertifisert i både DP-600 og DP-700, som dekker henholdsvis Analytics </a:t>
            </a:r>
            <a:r>
              <a:rPr lang="nb-NO" dirty="0" err="1"/>
              <a:t>Engineer</a:t>
            </a:r>
            <a:r>
              <a:rPr lang="nb-NO" dirty="0"/>
              <a:t> og Data </a:t>
            </a:r>
            <a:r>
              <a:rPr lang="nb-NO" dirty="0" err="1"/>
              <a:t>Engineer</a:t>
            </a:r>
            <a:r>
              <a:rPr lang="nb-NO" dirty="0"/>
              <a:t> i Microsoft </a:t>
            </a:r>
            <a:r>
              <a:rPr lang="nb-NO" dirty="0" err="1"/>
              <a:t>Fabric</a:t>
            </a:r>
            <a:r>
              <a:rPr lang="nb-NO" dirty="0"/>
              <a:t>.</a:t>
            </a:r>
          </a:p>
          <a:p>
            <a:r>
              <a:rPr lang="nb-NO" dirty="0"/>
              <a:t>Målet mitt med denne serien er å dele erfaringer og samtidig skape en felles forståelse i regionen.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461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Per i dag er Microsoft </a:t>
            </a:r>
            <a:r>
              <a:rPr lang="nb-NO" dirty="0" err="1"/>
              <a:t>Fabric</a:t>
            </a:r>
            <a:r>
              <a:rPr lang="nb-NO" dirty="0"/>
              <a:t> ikke tilgjengelig for sensitive data, og bruken er derfor begrenset til anonymiserte analyser.</a:t>
            </a:r>
          </a:p>
          <a:p>
            <a:r>
              <a:rPr lang="nb-NO" dirty="0"/>
              <a:t>Min visjon er at </a:t>
            </a:r>
            <a:r>
              <a:rPr lang="nb-NO" dirty="0" err="1"/>
              <a:t>Fabric</a:t>
            </a:r>
            <a:r>
              <a:rPr lang="nb-NO" dirty="0"/>
              <a:t> på sikt kan bli en felles plattform for BI og rapportering i HSØ – og at vi kan bruke den på en koordinert og effektiv måte.</a:t>
            </a:r>
          </a:p>
          <a:p>
            <a:r>
              <a:rPr lang="nb-NO" dirty="0"/>
              <a:t>Formålet med denne serien er derfor å bygge kompetanse i forkant av produksjonssetting, slik at vi står bedre rustet når plattformen åpnes fullt ut.</a:t>
            </a:r>
          </a:p>
          <a:p>
            <a:r>
              <a:rPr lang="nb-NO" dirty="0"/>
              <a:t>Samtidig ønsker vi å starte en dialog om beste praksis og mulige felles standarder – slik at deling og samarbeid på tvers av helseforetakene blir enklere.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0412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5819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19945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4800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707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693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901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45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329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308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224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835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959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780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3832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927FC00-9BC0-4D7A-9885-363517CB8709}" type="datetimeFigureOut">
              <a:rPr lang="nb-NO" smtClean="0"/>
              <a:t>20.02.2026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6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9B4444-E000-BA13-2C70-0BE5956C8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Microsoft </a:t>
            </a:r>
            <a:r>
              <a:rPr lang="nb-NO" dirty="0" err="1"/>
              <a:t>Fabric</a:t>
            </a:r>
            <a:r>
              <a:rPr lang="nb-NO" dirty="0"/>
              <a:t> Platform Enablement Program – HSØ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0B40CAB-C1C6-3BE1-4DCE-5C4B27743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b="1" dirty="0"/>
              <a:t>Workshop 1: Introduction &amp; End-to-End Analytics</a:t>
            </a:r>
          </a:p>
          <a:p>
            <a:endParaRPr lang="nb-NO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2327863-90A0-AB4B-E5F4-982B5844B345}"/>
              </a:ext>
            </a:extLst>
          </p:cNvPr>
          <p:cNvSpPr txBox="1"/>
          <p:nvPr/>
        </p:nvSpPr>
        <p:spPr>
          <a:xfrm>
            <a:off x="2006" y="6581001"/>
            <a:ext cx="12189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/>
              <a:t>Dette seminar‑opplegget tar utgangspunkt i Microsoft </a:t>
            </a:r>
            <a:r>
              <a:rPr lang="nb-NO" sz="1200" dirty="0" err="1"/>
              <a:t>Learn</a:t>
            </a:r>
            <a:r>
              <a:rPr lang="nb-NO" sz="1200" dirty="0"/>
              <a:t> sin DP‑600T00 kursplan</a:t>
            </a:r>
          </a:p>
        </p:txBody>
      </p:sp>
    </p:spTree>
    <p:extLst>
      <p:ext uri="{BB962C8B-B14F-4D97-AF65-F5344CB8AC3E}">
        <p14:creationId xmlns:p14="http://schemas.microsoft.com/office/powerpoint/2010/main" val="386563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46D3EF-1FC8-3314-F085-40016B9F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2800" dirty="0"/>
              <a:t>Velkommen til Microsoft </a:t>
            </a:r>
            <a:r>
              <a:rPr lang="nb-NO" sz="2800" dirty="0" err="1"/>
              <a:t>Fabric</a:t>
            </a:r>
            <a:r>
              <a:rPr lang="nb-NO" sz="2800" dirty="0"/>
              <a:t> Platform Enablement Program – HSØ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44BC66-0488-2B7B-5A9E-3F8B3CA5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Agenda for dagens sesjon</a:t>
            </a:r>
            <a:endParaRPr lang="nb-NO" dirty="0"/>
          </a:p>
          <a:p>
            <a:pPr lvl="1"/>
            <a:r>
              <a:rPr lang="nb-NO" dirty="0"/>
              <a:t>Kort introduksjon</a:t>
            </a:r>
          </a:p>
          <a:p>
            <a:pPr lvl="1"/>
            <a:r>
              <a:rPr lang="nb-NO" dirty="0"/>
              <a:t>Formålet med serien</a:t>
            </a:r>
          </a:p>
          <a:p>
            <a:pPr lvl="1"/>
            <a:r>
              <a:rPr lang="nb-NO" dirty="0"/>
              <a:t>Hva ønsker dere å få ut av serien?</a:t>
            </a:r>
          </a:p>
          <a:p>
            <a:pPr lvl="1"/>
            <a:r>
              <a:rPr lang="nb-NO" dirty="0"/>
              <a:t>Innføring i ende-til-ende-analyse med Microsoft </a:t>
            </a:r>
            <a:r>
              <a:rPr lang="nb-NO" dirty="0" err="1"/>
              <a:t>Fabric</a:t>
            </a:r>
            <a:endParaRPr lang="nb-NO" dirty="0"/>
          </a:p>
          <a:p>
            <a:pPr lvl="1"/>
            <a:r>
              <a:rPr lang="nb-NO" dirty="0"/>
              <a:t>Oppsummering og neste møte</a:t>
            </a:r>
          </a:p>
          <a:p>
            <a:pPr marL="0" indent="0">
              <a:buNone/>
            </a:pPr>
            <a:r>
              <a:rPr lang="nb-NO" b="1" dirty="0"/>
              <a:t>Praktisk informasjon</a:t>
            </a:r>
            <a:endParaRPr lang="nb-NO" dirty="0"/>
          </a:p>
          <a:p>
            <a:pPr lvl="1"/>
            <a:r>
              <a:rPr lang="nb-NO" dirty="0"/>
              <a:t>Åpent for alle interesserte</a:t>
            </a:r>
          </a:p>
          <a:p>
            <a:pPr lvl="1"/>
            <a:r>
              <a:rPr lang="nb-NO" dirty="0"/>
              <a:t>Presentasjon og læringsmateriell deles via GitHub</a:t>
            </a:r>
          </a:p>
          <a:p>
            <a:pPr lvl="1"/>
            <a:r>
              <a:rPr lang="nb-NO" dirty="0"/>
              <a:t>Seminarene tas opp for de som ikke har anledning til å delta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767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44F7E7-428D-24BB-EE63-BF3DA346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Kort om meg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6778F47-0EF1-49BF-0FE1-04C4160A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b="1" dirty="0"/>
              <a:t>Mohammad Amin Sahraei</a:t>
            </a:r>
            <a:br>
              <a:rPr lang="nb-NO" dirty="0"/>
            </a:br>
            <a:r>
              <a:rPr lang="nb-NO" dirty="0"/>
              <a:t>Data </a:t>
            </a:r>
            <a:r>
              <a:rPr lang="nb-NO" dirty="0" err="1"/>
              <a:t>Engineer</a:t>
            </a:r>
            <a:r>
              <a:rPr lang="nb-NO" dirty="0"/>
              <a:t> – Data og Analyse, VVHF</a:t>
            </a:r>
          </a:p>
          <a:p>
            <a:pPr lvl="1"/>
            <a:r>
              <a:rPr lang="nb-NO" dirty="0"/>
              <a:t>Arbeidet med Microsoft </a:t>
            </a:r>
            <a:r>
              <a:rPr lang="nb-NO" dirty="0" err="1"/>
              <a:t>Fabric</a:t>
            </a:r>
            <a:r>
              <a:rPr lang="nb-NO" dirty="0"/>
              <a:t> siden introduksjonen i regionen</a:t>
            </a:r>
          </a:p>
          <a:p>
            <a:pPr lvl="1"/>
            <a:r>
              <a:rPr lang="nb-NO" dirty="0"/>
              <a:t>Erfaring med moderne dataplattformer og analyse</a:t>
            </a:r>
          </a:p>
          <a:p>
            <a:pPr lvl="1"/>
            <a:r>
              <a:rPr lang="nb-NO" dirty="0"/>
              <a:t>Microsoft-sertifisert:</a:t>
            </a:r>
          </a:p>
          <a:p>
            <a:pPr lvl="2"/>
            <a:r>
              <a:rPr lang="nb-NO" dirty="0"/>
              <a:t>DP-600: </a:t>
            </a:r>
            <a:r>
              <a:rPr lang="nb-NO" dirty="0" err="1"/>
              <a:t>Fabric</a:t>
            </a:r>
            <a:r>
              <a:rPr lang="nb-NO" dirty="0"/>
              <a:t> Analytics </a:t>
            </a:r>
            <a:r>
              <a:rPr lang="nb-NO" dirty="0" err="1"/>
              <a:t>Engineer</a:t>
            </a:r>
            <a:r>
              <a:rPr lang="nb-NO" dirty="0"/>
              <a:t> </a:t>
            </a:r>
            <a:r>
              <a:rPr lang="nb-NO" dirty="0" err="1"/>
              <a:t>Associate</a:t>
            </a:r>
            <a:endParaRPr lang="nb-NO" dirty="0"/>
          </a:p>
          <a:p>
            <a:pPr lvl="2"/>
            <a:r>
              <a:rPr lang="nb-NO" dirty="0"/>
              <a:t>DP-700: </a:t>
            </a:r>
            <a:r>
              <a:rPr lang="nb-NO" dirty="0" err="1"/>
              <a:t>Fabric</a:t>
            </a:r>
            <a:r>
              <a:rPr lang="nb-NO" dirty="0"/>
              <a:t> Data </a:t>
            </a:r>
            <a:r>
              <a:rPr lang="nb-NO" dirty="0" err="1"/>
              <a:t>Engineer</a:t>
            </a:r>
            <a:r>
              <a:rPr lang="nb-NO" dirty="0"/>
              <a:t> </a:t>
            </a:r>
            <a:r>
              <a:rPr lang="nb-NO" dirty="0" err="1"/>
              <a:t>Associate</a:t>
            </a:r>
            <a:endParaRPr lang="nb-NO" dirty="0"/>
          </a:p>
          <a:p>
            <a:pPr lvl="1"/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4542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B94930-778F-06A9-F4C5-B5125C2C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Formålet med serien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EAADED-A71A-5323-C92A-B245BCBF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b="1" dirty="0"/>
              <a:t>Dagens situasjon</a:t>
            </a:r>
            <a:endParaRPr lang="nb-NO" dirty="0"/>
          </a:p>
          <a:p>
            <a:pPr lvl="1"/>
            <a:r>
              <a:rPr lang="nb-NO" dirty="0"/>
              <a:t>Microsoft </a:t>
            </a:r>
            <a:r>
              <a:rPr lang="nb-NO" dirty="0" err="1"/>
              <a:t>Fabric</a:t>
            </a:r>
            <a:r>
              <a:rPr lang="nb-NO" dirty="0"/>
              <a:t> er ikke i produksjon </a:t>
            </a:r>
          </a:p>
          <a:p>
            <a:pPr lvl="1"/>
            <a:r>
              <a:rPr lang="nb-NO" dirty="0"/>
              <a:t>Kan foreløpig benyttes til anonymiserte/analyserelaterte formål</a:t>
            </a:r>
          </a:p>
          <a:p>
            <a:pPr marL="0" indent="0">
              <a:buNone/>
            </a:pPr>
            <a:r>
              <a:rPr lang="nb-NO" b="1" dirty="0"/>
              <a:t>Visjon</a:t>
            </a:r>
            <a:endParaRPr lang="nb-NO" dirty="0"/>
          </a:p>
          <a:p>
            <a:pPr lvl="1"/>
            <a:r>
              <a:rPr lang="nb-NO" dirty="0"/>
              <a:t>En felles plattform for BI og rapportering i HSØ</a:t>
            </a:r>
          </a:p>
          <a:p>
            <a:pPr lvl="1"/>
            <a:r>
              <a:rPr lang="nb-NO" dirty="0"/>
              <a:t>Styrket samarbeid på tvers av helseforetak</a:t>
            </a:r>
          </a:p>
          <a:p>
            <a:pPr marL="0" indent="0">
              <a:buNone/>
            </a:pPr>
            <a:r>
              <a:rPr lang="nb-NO" b="1" dirty="0"/>
              <a:t>Formål med serien</a:t>
            </a:r>
            <a:endParaRPr lang="nb-NO" dirty="0"/>
          </a:p>
          <a:p>
            <a:pPr lvl="1"/>
            <a:r>
              <a:rPr lang="nb-NO" dirty="0"/>
              <a:t>Bygge kompetanse før produksjonssetting</a:t>
            </a:r>
          </a:p>
          <a:p>
            <a:pPr lvl="1"/>
            <a:r>
              <a:rPr lang="nb-NO" dirty="0"/>
              <a:t>Skape felles forståelse for beste praksis</a:t>
            </a:r>
          </a:p>
          <a:p>
            <a:pPr lvl="1"/>
            <a:r>
              <a:rPr lang="nb-NO" dirty="0"/>
              <a:t>Utforske muligheter for felles standarder</a:t>
            </a:r>
          </a:p>
          <a:p>
            <a:pPr lvl="1"/>
            <a:r>
              <a:rPr lang="nb-NO" dirty="0"/>
              <a:t>Legge grunnlag for effektiv og koordinert bruk av plattformen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83539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B02F864-B914-A498-1524-149EFECB2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Hva ønsker dere å få ut av serien?</a:t>
            </a:r>
          </a:p>
        </p:txBody>
      </p:sp>
    </p:spTree>
    <p:extLst>
      <p:ext uri="{BB962C8B-B14F-4D97-AF65-F5344CB8AC3E}">
        <p14:creationId xmlns:p14="http://schemas.microsoft.com/office/powerpoint/2010/main" val="180752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AEF125-0F78-D5BE-65D8-23F49A20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Innføring i ende-til-ende-analyse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F08A32-986D-F32C-2F0E-F3104B13D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1" dirty="0"/>
              <a:t>Ende-til-ende analyseplattform for datateknikere og virksomheten</a:t>
            </a:r>
          </a:p>
          <a:p>
            <a:pPr marL="0" indent="0">
              <a:buNone/>
            </a:pPr>
            <a:r>
              <a:rPr lang="nb-NO" b="1" dirty="0" err="1"/>
              <a:t>Integrertetjenester</a:t>
            </a:r>
            <a:r>
              <a:rPr lang="nb-NO" b="1" dirty="0"/>
              <a:t>:</a:t>
            </a:r>
          </a:p>
          <a:p>
            <a:pPr lvl="1"/>
            <a:r>
              <a:rPr lang="nb-NO" dirty="0"/>
              <a:t>Data </a:t>
            </a:r>
            <a:r>
              <a:rPr lang="nb-NO" dirty="0" err="1"/>
              <a:t>engineering</a:t>
            </a:r>
            <a:endParaRPr lang="nb-NO" dirty="0"/>
          </a:p>
          <a:p>
            <a:pPr lvl="1"/>
            <a:r>
              <a:rPr lang="nb-NO" dirty="0"/>
              <a:t>Dataintegrering</a:t>
            </a:r>
          </a:p>
          <a:p>
            <a:pPr lvl="1"/>
            <a:r>
              <a:rPr lang="nb-NO" dirty="0"/>
              <a:t>Data </a:t>
            </a:r>
            <a:r>
              <a:rPr lang="nb-NO" dirty="0" err="1"/>
              <a:t>warehousing</a:t>
            </a:r>
            <a:endParaRPr lang="nb-NO" dirty="0"/>
          </a:p>
          <a:p>
            <a:pPr lvl="1"/>
            <a:r>
              <a:rPr lang="nb-NO" dirty="0"/>
              <a:t>Sanntidsintelligens</a:t>
            </a:r>
          </a:p>
          <a:p>
            <a:pPr lvl="1"/>
            <a:r>
              <a:rPr lang="nb-NO" dirty="0"/>
              <a:t>Datavitenskap</a:t>
            </a:r>
          </a:p>
          <a:p>
            <a:pPr lvl="1"/>
            <a:r>
              <a:rPr lang="nb-NO" dirty="0"/>
              <a:t>Forretningsintelligens (BI)</a:t>
            </a:r>
          </a:p>
          <a:p>
            <a:pPr marL="0" indent="0">
              <a:buNone/>
            </a:pPr>
            <a:r>
              <a:rPr lang="nb-NO" b="1" dirty="0" err="1"/>
              <a:t>Copilot</a:t>
            </a:r>
            <a:r>
              <a:rPr lang="nb-NO" dirty="0"/>
              <a:t>: generativ AI-assistent for kodefullføring, språk til SQL, automatisert innsikt</a:t>
            </a:r>
          </a:p>
          <a:p>
            <a:pPr marL="0" indent="0">
              <a:buNone/>
            </a:pPr>
            <a:r>
              <a:rPr lang="nb-NO" b="1" dirty="0"/>
              <a:t>Mål</a:t>
            </a:r>
            <a:r>
              <a:rPr lang="nb-NO" dirty="0"/>
              <a:t>: Forenkle samarbeid og beslutningstaking på tvers av team</a:t>
            </a:r>
          </a:p>
        </p:txBody>
      </p:sp>
    </p:spTree>
    <p:extLst>
      <p:ext uri="{BB962C8B-B14F-4D97-AF65-F5344CB8AC3E}">
        <p14:creationId xmlns:p14="http://schemas.microsoft.com/office/powerpoint/2010/main" val="304961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F64C-B3F5-1B9A-7F56-E2485C9C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tel 6">
            <a:extLst>
              <a:ext uri="{FF2B5EF4-FFF2-40B4-BE49-F238E27FC236}">
                <a16:creationId xmlns:a16="http://schemas.microsoft.com/office/drawing/2014/main" id="{47D03606-B425-C199-EF94-C2922424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45073AA-8ED7-4E8E-18BB-8EDD71B4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0D59E4F9-FC7A-55AD-D7FD-60D1F7E569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074" name="Picture 2" descr="Diagram over OneLake-arkitekturen med arbeidsbelastninger som får tilgang til samme OneLake-datalagring og Delta-Parquet lagringsformat som grunnlaget for serverløs databehandling.">
            <a:extLst>
              <a:ext uri="{FF2B5EF4-FFF2-40B4-BE49-F238E27FC236}">
                <a16:creationId xmlns:a16="http://schemas.microsoft.com/office/drawing/2014/main" id="{5C3D1B78-D0F2-C246-BA22-AE6B2DB6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" y="19050"/>
            <a:ext cx="11153775" cy="6819900"/>
          </a:xfrm>
          <a:prstGeom prst="rect">
            <a:avLst/>
          </a:prstGeom>
          <a:solidFill>
            <a:srgbClr val="FFFDF9"/>
          </a:solidFill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8DE984CF-F9F8-72AC-21AF-75130E41344C}"/>
              </a:ext>
            </a:extLst>
          </p:cNvPr>
          <p:cNvSpPr txBox="1"/>
          <p:nvPr/>
        </p:nvSpPr>
        <p:spPr>
          <a:xfrm>
            <a:off x="1" y="6605337"/>
            <a:ext cx="42952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050" dirty="0">
                <a:solidFill>
                  <a:schemeClr val="bg1"/>
                </a:solidFill>
              </a:rPr>
              <a:t>Kilde: Microsoft </a:t>
            </a:r>
            <a:r>
              <a:rPr lang="nb-NO" sz="1050" dirty="0" err="1">
                <a:solidFill>
                  <a:schemeClr val="bg1"/>
                </a:solidFill>
              </a:rPr>
              <a:t>Learn</a:t>
            </a:r>
            <a:r>
              <a:rPr lang="nb-NO" sz="1050" dirty="0">
                <a:solidFill>
                  <a:schemeClr val="bg1"/>
                </a:solidFill>
              </a:rPr>
              <a:t> – DP‑600T00: Microsoft </a:t>
            </a:r>
            <a:r>
              <a:rPr lang="nb-NO" sz="1050" dirty="0" err="1">
                <a:solidFill>
                  <a:schemeClr val="bg1"/>
                </a:solidFill>
              </a:rPr>
              <a:t>Fabric</a:t>
            </a:r>
            <a:r>
              <a:rPr lang="nb-NO" sz="1050" dirty="0">
                <a:solidFill>
                  <a:schemeClr val="bg1"/>
                </a:solidFill>
              </a:rPr>
              <a:t> Analytics </a:t>
            </a:r>
            <a:r>
              <a:rPr lang="nb-NO" sz="1050" dirty="0" err="1">
                <a:solidFill>
                  <a:schemeClr val="bg1"/>
                </a:solidFill>
              </a:rPr>
              <a:t>Engineer</a:t>
            </a:r>
            <a:endParaRPr lang="nb-NO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753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C394D8-19A0-5959-4E18-76795794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Utforske ende-til-ende-analyse med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3D99E7-8454-146C-704F-B36B8612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Hva gjør </a:t>
            </a:r>
            <a:r>
              <a:rPr lang="nb-NO" b="1" dirty="0" err="1"/>
              <a:t>Fabric</a:t>
            </a:r>
            <a:r>
              <a:rPr lang="nb-NO" b="1" dirty="0"/>
              <a:t> enklere:</a:t>
            </a:r>
            <a:endParaRPr lang="nb-NO" dirty="0"/>
          </a:p>
          <a:p>
            <a:pPr lvl="1"/>
            <a:r>
              <a:rPr lang="nb-NO" dirty="0"/>
              <a:t>Én integrert plattform for skalerbar analyse</a:t>
            </a:r>
          </a:p>
          <a:p>
            <a:pPr lvl="1"/>
            <a:r>
              <a:rPr lang="nb-NO" dirty="0"/>
              <a:t>Lagrer data i </a:t>
            </a:r>
            <a:r>
              <a:rPr lang="nb-NO" b="1" dirty="0" err="1"/>
              <a:t>OneLake</a:t>
            </a:r>
            <a:r>
              <a:rPr lang="nb-NO" dirty="0"/>
              <a:t> – tilgjengelig for alle analysemotorer</a:t>
            </a:r>
          </a:p>
          <a:p>
            <a:pPr lvl="1"/>
            <a:r>
              <a:rPr lang="nb-NO" dirty="0"/>
              <a:t>Støtter Delta, </a:t>
            </a:r>
            <a:r>
              <a:rPr lang="nb-NO" dirty="0" err="1"/>
              <a:t>Parquet</a:t>
            </a:r>
            <a:r>
              <a:rPr lang="nb-NO" dirty="0"/>
              <a:t>, CSV, JSON</a:t>
            </a:r>
          </a:p>
          <a:p>
            <a:pPr marL="0" indent="0">
              <a:buNone/>
            </a:pPr>
            <a:r>
              <a:rPr lang="nb-NO" b="1" dirty="0" err="1"/>
              <a:t>OneLake</a:t>
            </a:r>
            <a:r>
              <a:rPr lang="nb-NO" b="1" dirty="0"/>
              <a:t>-fordeler:</a:t>
            </a:r>
            <a:endParaRPr lang="nb-NO" dirty="0"/>
          </a:p>
          <a:p>
            <a:pPr lvl="1"/>
            <a:r>
              <a:rPr lang="nb-NO" dirty="0"/>
              <a:t>Samler data uten duplisering eller flytting</a:t>
            </a:r>
          </a:p>
          <a:p>
            <a:pPr lvl="1"/>
            <a:r>
              <a:rPr lang="nb-NO" dirty="0"/>
              <a:t>Sikrer konsistens og tilgjengelighet på tvers av systemer</a:t>
            </a:r>
          </a:p>
          <a:p>
            <a:pPr lvl="1"/>
            <a:r>
              <a:rPr lang="nb-NO" dirty="0"/>
              <a:t>Snarveier gir tilgang til eksterne data uten kopiering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4140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4707-4C71-30AD-B762-117AD29F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0021081-ADC4-DA8B-0570-9D87A090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Utforske ende-til-ende-analyse med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7782AA0-A94C-87F7-77B8-77BA16EE1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Arbeidsområder:</a:t>
            </a:r>
            <a:endParaRPr lang="nb-NO" dirty="0"/>
          </a:p>
          <a:p>
            <a:pPr lvl="1"/>
            <a:r>
              <a:rPr lang="nb-NO" dirty="0"/>
              <a:t>Organiserer data, rapporter og ressurser</a:t>
            </a:r>
          </a:p>
          <a:p>
            <a:pPr lvl="1"/>
            <a:r>
              <a:rPr lang="nb-NO" dirty="0"/>
              <a:t>Gir tilgangskontroll og sikkerhet</a:t>
            </a:r>
          </a:p>
          <a:p>
            <a:pPr lvl="1"/>
            <a:r>
              <a:rPr lang="nb-NO" dirty="0"/>
              <a:t>Integreres med </a:t>
            </a:r>
            <a:r>
              <a:rPr lang="nb-NO" dirty="0" err="1"/>
              <a:t>Git</a:t>
            </a:r>
            <a:r>
              <a:rPr lang="nb-NO" dirty="0"/>
              <a:t> for versjonskontroll</a:t>
            </a:r>
          </a:p>
          <a:p>
            <a:pPr marL="0" indent="0">
              <a:buNone/>
            </a:pPr>
            <a:r>
              <a:rPr lang="nb-NO" b="1" dirty="0"/>
              <a:t>Administrasjon og styring:</a:t>
            </a:r>
            <a:endParaRPr lang="nb-NO" dirty="0"/>
          </a:p>
          <a:p>
            <a:pPr lvl="1"/>
            <a:r>
              <a:rPr lang="nb-NO" dirty="0"/>
              <a:t>Sentralisert datastyring og overvåkning</a:t>
            </a:r>
          </a:p>
          <a:p>
            <a:pPr lvl="1"/>
            <a:r>
              <a:rPr lang="nb-NO" dirty="0"/>
              <a:t>Administrasjon av grupper, tillatelser, datakilder og </a:t>
            </a:r>
            <a:r>
              <a:rPr lang="nb-NO" dirty="0" err="1"/>
              <a:t>gateways</a:t>
            </a:r>
            <a:endParaRPr lang="nb-NO" dirty="0"/>
          </a:p>
          <a:p>
            <a:pPr lvl="1"/>
            <a:r>
              <a:rPr lang="nb-NO" dirty="0"/>
              <a:t>Bruk av </a:t>
            </a:r>
            <a:r>
              <a:rPr lang="nb-NO" dirty="0" err="1"/>
              <a:t>admin-APIer</a:t>
            </a:r>
            <a:r>
              <a:rPr lang="nb-NO" dirty="0"/>
              <a:t>/</a:t>
            </a:r>
            <a:r>
              <a:rPr lang="nb-NO" dirty="0" err="1"/>
              <a:t>SDKer</a:t>
            </a:r>
            <a:r>
              <a:rPr lang="nb-NO" dirty="0"/>
              <a:t> for automatisering og integrasjon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2253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364BB01-9102-E993-8257-4F779080D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Datateam og Microsoft </a:t>
            </a:r>
            <a:r>
              <a:rPr lang="nb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690A956-4233-7157-2AE1-DE793F9FD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b="1" dirty="0"/>
              <a:t>Tradisjonelle utfordringer:</a:t>
            </a:r>
            <a:endParaRPr lang="nb-NO" dirty="0"/>
          </a:p>
          <a:p>
            <a:pPr lvl="1"/>
            <a:r>
              <a:rPr lang="nb-NO" dirty="0"/>
              <a:t>Datasiloer og fragmenterte arbeidsflyter</a:t>
            </a:r>
          </a:p>
          <a:p>
            <a:pPr lvl="1"/>
            <a:r>
              <a:rPr lang="nb-NO" dirty="0"/>
              <a:t>Koordinering mellom dataingeniører, analytikere og dataforskere</a:t>
            </a:r>
          </a:p>
          <a:p>
            <a:pPr lvl="1"/>
            <a:r>
              <a:rPr lang="nb-NO" dirty="0"/>
              <a:t>Tidkrevende transformasjoner og risiko for feiltolkning</a:t>
            </a:r>
          </a:p>
          <a:p>
            <a:pPr lvl="1"/>
            <a:r>
              <a:rPr lang="nb-NO" dirty="0"/>
              <a:t>Vanskelig å integrere avanserte datavitenskapsteknikker</a:t>
            </a:r>
          </a:p>
          <a:p>
            <a:pPr marL="0" indent="0">
              <a:buNone/>
            </a:pPr>
            <a:r>
              <a:rPr lang="nb-NO" b="1" dirty="0"/>
              <a:t>Hvordan </a:t>
            </a:r>
            <a:r>
              <a:rPr lang="nb-NO" b="1" dirty="0" err="1"/>
              <a:t>Fabric</a:t>
            </a:r>
            <a:r>
              <a:rPr lang="nb-NO" b="1" dirty="0"/>
              <a:t> forenkler samarbeid:</a:t>
            </a:r>
            <a:endParaRPr lang="nb-NO" dirty="0"/>
          </a:p>
          <a:p>
            <a:pPr lvl="1"/>
            <a:r>
              <a:rPr lang="nb-NO" dirty="0"/>
              <a:t>Én enhetlig </a:t>
            </a:r>
            <a:r>
              <a:rPr lang="nb-NO" dirty="0" err="1"/>
              <a:t>SaaS</a:t>
            </a:r>
            <a:r>
              <a:rPr lang="nb-NO" dirty="0"/>
              <a:t>-plattform for alle roller</a:t>
            </a:r>
          </a:p>
          <a:p>
            <a:pPr lvl="1"/>
            <a:r>
              <a:rPr lang="nb-NO" dirty="0"/>
              <a:t>Automatiserte Pipelines for ETL og planlegging</a:t>
            </a:r>
          </a:p>
          <a:p>
            <a:pPr lvl="1"/>
            <a:r>
              <a:rPr lang="nb-NO" dirty="0"/>
              <a:t>Lakehouses med Delta-</a:t>
            </a:r>
            <a:r>
              <a:rPr lang="nb-NO" dirty="0" err="1"/>
              <a:t>Parquet</a:t>
            </a:r>
            <a:r>
              <a:rPr lang="nb-NO" dirty="0"/>
              <a:t> for versjonskontroll og effektiv lagring</a:t>
            </a:r>
          </a:p>
          <a:p>
            <a:pPr lvl="1"/>
            <a:r>
              <a:rPr lang="nb-NO" dirty="0"/>
              <a:t>Direkte tilgang via </a:t>
            </a:r>
            <a:r>
              <a:rPr lang="nb-NO" dirty="0" err="1"/>
              <a:t>OneLake</a:t>
            </a:r>
            <a:r>
              <a:rPr lang="nb-NO" dirty="0"/>
              <a:t>, Reduserer nedstrøms transformasjoner</a:t>
            </a:r>
          </a:p>
          <a:p>
            <a:pPr lvl="1"/>
            <a:r>
              <a:rPr lang="nb-NO" dirty="0"/>
              <a:t>Integrerte notatblokker for Python, Spark og ML-modeller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7312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F1D7-B007-7EA9-2B0E-BD6549E1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E418638-C95E-5450-2BF5-77FB25630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Datateam og Microsoft </a:t>
            </a:r>
            <a:r>
              <a:rPr lang="nb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661343A-1D3E-BE3A-216A-74F7F0E64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Roller og arbeidsflyter:</a:t>
            </a:r>
            <a:endParaRPr lang="nb-NO" dirty="0"/>
          </a:p>
          <a:p>
            <a:pPr lvl="1">
              <a:lnSpc>
                <a:spcPct val="150000"/>
              </a:lnSpc>
            </a:pPr>
            <a:r>
              <a:rPr lang="nb-NO" b="1" dirty="0"/>
              <a:t>Dataingeniører:</a:t>
            </a:r>
            <a:r>
              <a:rPr lang="nb-NO" dirty="0"/>
              <a:t> innlesning, transformasjon og lagring i </a:t>
            </a:r>
            <a:r>
              <a:rPr lang="nb-NO" dirty="0" err="1"/>
              <a:t>OneLake</a:t>
            </a:r>
            <a:endParaRPr lang="nb-NO" dirty="0"/>
          </a:p>
          <a:p>
            <a:pPr lvl="1">
              <a:lnSpc>
                <a:spcPct val="150000"/>
              </a:lnSpc>
            </a:pPr>
            <a:r>
              <a:rPr lang="nb-NO" b="1" dirty="0"/>
              <a:t>Analyseingeniører:</a:t>
            </a:r>
            <a:r>
              <a:rPr lang="nb-NO" dirty="0"/>
              <a:t> </a:t>
            </a:r>
            <a:r>
              <a:rPr lang="nb-NO" dirty="0" err="1"/>
              <a:t>kuratering</a:t>
            </a:r>
            <a:r>
              <a:rPr lang="nb-NO" dirty="0"/>
              <a:t>, semantiske modeller, selvbetjent analyse</a:t>
            </a:r>
          </a:p>
          <a:p>
            <a:pPr lvl="1">
              <a:lnSpc>
                <a:spcPct val="150000"/>
              </a:lnSpc>
            </a:pPr>
            <a:r>
              <a:rPr lang="nb-NO" b="1" dirty="0"/>
              <a:t>Dataanalytikere:</a:t>
            </a:r>
            <a:r>
              <a:rPr lang="nb-NO" dirty="0"/>
              <a:t> direkte tilgang til data, interaktive Power BI-rapporter</a:t>
            </a:r>
          </a:p>
          <a:p>
            <a:pPr lvl="1">
              <a:lnSpc>
                <a:spcPct val="150000"/>
              </a:lnSpc>
            </a:pPr>
            <a:r>
              <a:rPr lang="nb-NO" b="1" dirty="0"/>
              <a:t>Dataforskere:</a:t>
            </a:r>
            <a:r>
              <a:rPr lang="nb-NO" dirty="0"/>
              <a:t> maskinlæringsmodeller, integrasjon med </a:t>
            </a:r>
            <a:r>
              <a:rPr lang="nb-NO" dirty="0" err="1"/>
              <a:t>Azure</a:t>
            </a:r>
            <a:r>
              <a:rPr lang="nb-NO" dirty="0"/>
              <a:t> ML</a:t>
            </a:r>
          </a:p>
          <a:p>
            <a:pPr lvl="1">
              <a:lnSpc>
                <a:spcPct val="150000"/>
              </a:lnSpc>
            </a:pPr>
            <a:r>
              <a:rPr lang="nb-NO" b="1" dirty="0"/>
              <a:t>Lav‑kode/selvlærte brukere:</a:t>
            </a:r>
            <a:r>
              <a:rPr lang="nb-NO" dirty="0"/>
              <a:t> </a:t>
            </a:r>
            <a:r>
              <a:rPr lang="nb-NO" dirty="0" err="1"/>
              <a:t>kuraterte</a:t>
            </a:r>
            <a:r>
              <a:rPr lang="nb-NO" dirty="0"/>
              <a:t> datasett, Power BI-maler, enkle ETL-oppgaver</a:t>
            </a:r>
          </a:p>
        </p:txBody>
      </p:sp>
    </p:spTree>
    <p:extLst>
      <p:ext uri="{BB962C8B-B14F-4D97-AF65-F5344CB8AC3E}">
        <p14:creationId xmlns:p14="http://schemas.microsoft.com/office/powerpoint/2010/main" val="271546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CE35C9-D113-D5A6-5512-A7007430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Aktivere og ta i bruk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023C9E-C21B-E5D6-FA1F-C177701C4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1" dirty="0"/>
              <a:t>Aktivere Microsoft </a:t>
            </a:r>
            <a:r>
              <a:rPr lang="nb-NO" b="1" dirty="0" err="1"/>
              <a:t>Fabric</a:t>
            </a:r>
            <a:r>
              <a:rPr lang="nb-NO" b="1" dirty="0"/>
              <a:t>:</a:t>
            </a:r>
            <a:endParaRPr lang="nb-NO" dirty="0"/>
          </a:p>
          <a:p>
            <a:pPr lvl="1"/>
            <a:r>
              <a:rPr lang="nb-NO" dirty="0"/>
              <a:t>Krever en administratorrolle:</a:t>
            </a:r>
          </a:p>
          <a:p>
            <a:pPr lvl="2"/>
            <a:r>
              <a:rPr lang="nb-NO" dirty="0" err="1"/>
              <a:t>Fabric</a:t>
            </a:r>
            <a:r>
              <a:rPr lang="nb-NO" dirty="0"/>
              <a:t> administrator (tidl. Power BI-</a:t>
            </a:r>
            <a:r>
              <a:rPr lang="nb-NO" dirty="0" err="1"/>
              <a:t>admin</a:t>
            </a:r>
            <a:r>
              <a:rPr lang="nb-NO" dirty="0"/>
              <a:t>)</a:t>
            </a:r>
          </a:p>
          <a:p>
            <a:pPr lvl="2"/>
            <a:r>
              <a:rPr lang="nb-NO" dirty="0"/>
              <a:t>Power Platform-administrator</a:t>
            </a:r>
          </a:p>
          <a:p>
            <a:pPr lvl="2"/>
            <a:r>
              <a:rPr lang="nb-NO" dirty="0"/>
              <a:t>Microsoft 365-administrator</a:t>
            </a:r>
          </a:p>
          <a:p>
            <a:pPr lvl="1"/>
            <a:r>
              <a:rPr lang="nb-NO" dirty="0"/>
              <a:t>Aktivering skjer i </a:t>
            </a:r>
            <a:r>
              <a:rPr lang="nb-NO" b="1" dirty="0"/>
              <a:t>administrasjonsportalen &gt; </a:t>
            </a:r>
            <a:r>
              <a:rPr lang="nb-NO" b="1" dirty="0" err="1"/>
              <a:t>Tenant</a:t>
            </a:r>
            <a:r>
              <a:rPr lang="nb-NO" b="1" dirty="0"/>
              <a:t> settings</a:t>
            </a:r>
          </a:p>
          <a:p>
            <a:pPr lvl="1"/>
            <a:r>
              <a:rPr lang="nb-NO" dirty="0"/>
              <a:t>Kan aktiveres for hele organisasjonen eller spesifikke sikkerhetsgrupper</a:t>
            </a:r>
          </a:p>
          <a:p>
            <a:pPr marL="0" indent="0">
              <a:buNone/>
            </a:pPr>
            <a:r>
              <a:rPr lang="nb-NO" b="1" dirty="0"/>
              <a:t>Opprett arbeidsområder:</a:t>
            </a:r>
            <a:endParaRPr lang="nb-NO" dirty="0"/>
          </a:p>
          <a:p>
            <a:pPr lvl="1"/>
            <a:r>
              <a:rPr lang="nb-NO" dirty="0"/>
              <a:t>Samarbeidsmiljø for lakehouses, </a:t>
            </a:r>
            <a:r>
              <a:rPr lang="nb-NO" dirty="0" err="1"/>
              <a:t>warehouses</a:t>
            </a:r>
            <a:r>
              <a:rPr lang="nb-NO" dirty="0"/>
              <a:t> og rapporter</a:t>
            </a:r>
          </a:p>
          <a:p>
            <a:pPr lvl="1"/>
            <a:r>
              <a:rPr lang="nb-NO" dirty="0"/>
              <a:t>Alle data lagres i </a:t>
            </a:r>
            <a:r>
              <a:rPr lang="nb-NO" b="1" dirty="0" err="1"/>
              <a:t>OneLake</a:t>
            </a:r>
            <a:endParaRPr lang="nb-NO" dirty="0"/>
          </a:p>
          <a:p>
            <a:pPr lvl="1"/>
            <a:r>
              <a:rPr lang="nb-NO" dirty="0"/>
              <a:t>Konfigurer: lisenstype, OneDrive-tilgang, ADLS Gen2, </a:t>
            </a:r>
            <a:r>
              <a:rPr lang="nb-NO" dirty="0" err="1"/>
              <a:t>Git</a:t>
            </a:r>
            <a:r>
              <a:rPr lang="nb-NO" dirty="0"/>
              <a:t>-integrasjon, Spark-innstillinger</a:t>
            </a:r>
          </a:p>
          <a:p>
            <a:pPr lvl="1"/>
            <a:r>
              <a:rPr lang="nb-NO" dirty="0"/>
              <a:t>Roller: Administrator, Bidragsyter, Medlem, Visning</a:t>
            </a:r>
          </a:p>
        </p:txBody>
      </p:sp>
    </p:spTree>
    <p:extLst>
      <p:ext uri="{BB962C8B-B14F-4D97-AF65-F5344CB8AC3E}">
        <p14:creationId xmlns:p14="http://schemas.microsoft.com/office/powerpoint/2010/main" val="214388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kjermbilde av administrasjonsportalen fabric der du kan aktivere Fabric-elementer.">
            <a:extLst>
              <a:ext uri="{FF2B5EF4-FFF2-40B4-BE49-F238E27FC236}">
                <a16:creationId xmlns:a16="http://schemas.microsoft.com/office/drawing/2014/main" id="{2969313A-0902-0672-3C06-BA23DFE3B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0"/>
            <a:ext cx="10133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Sylinder 1">
            <a:extLst>
              <a:ext uri="{FF2B5EF4-FFF2-40B4-BE49-F238E27FC236}">
                <a16:creationId xmlns:a16="http://schemas.microsoft.com/office/drawing/2014/main" id="{7174FFA0-0F33-F3E3-FD92-B992452F9BF9}"/>
              </a:ext>
            </a:extLst>
          </p:cNvPr>
          <p:cNvSpPr txBox="1"/>
          <p:nvPr/>
        </p:nvSpPr>
        <p:spPr>
          <a:xfrm>
            <a:off x="7861927" y="6642556"/>
            <a:ext cx="34156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800" dirty="0">
                <a:solidFill>
                  <a:schemeClr val="bg1"/>
                </a:solidFill>
              </a:rPr>
              <a:t>Kilde: Microsoft </a:t>
            </a:r>
            <a:r>
              <a:rPr lang="nb-NO" sz="800" dirty="0" err="1">
                <a:solidFill>
                  <a:schemeClr val="bg1"/>
                </a:solidFill>
              </a:rPr>
              <a:t>Learn</a:t>
            </a:r>
            <a:r>
              <a:rPr lang="nb-NO" sz="800" dirty="0">
                <a:solidFill>
                  <a:schemeClr val="bg1"/>
                </a:solidFill>
              </a:rPr>
              <a:t> – DP‑600T00: Microsoft </a:t>
            </a:r>
            <a:r>
              <a:rPr lang="nb-NO" sz="800" dirty="0" err="1">
                <a:solidFill>
                  <a:schemeClr val="bg1"/>
                </a:solidFill>
              </a:rPr>
              <a:t>Fabric</a:t>
            </a:r>
            <a:r>
              <a:rPr lang="nb-NO" sz="800" dirty="0">
                <a:solidFill>
                  <a:schemeClr val="bg1"/>
                </a:solidFill>
              </a:rPr>
              <a:t> Analytics </a:t>
            </a:r>
            <a:r>
              <a:rPr lang="nb-NO" sz="800" dirty="0" err="1">
                <a:solidFill>
                  <a:schemeClr val="bg1"/>
                </a:solidFill>
              </a:rPr>
              <a:t>Engineer</a:t>
            </a:r>
            <a:endParaRPr lang="nb-NO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10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A834A-5167-92E2-3B89-8073654A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DC295F3-338D-10CD-4926-9FAD52663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Aktivere og ta i bruk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B501406-854D-B9CC-645E-9D8E33462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Oppdag data via </a:t>
            </a:r>
            <a:r>
              <a:rPr lang="nb-NO" b="1" dirty="0" err="1"/>
              <a:t>OneLake</a:t>
            </a:r>
            <a:r>
              <a:rPr lang="nb-NO" b="1" dirty="0"/>
              <a:t>-katalogen:</a:t>
            </a:r>
            <a:endParaRPr lang="nb-NO" dirty="0"/>
          </a:p>
          <a:p>
            <a:pPr lvl="1"/>
            <a:r>
              <a:rPr lang="nb-NO" dirty="0"/>
              <a:t>Finn og få tilgang til relevante datasett</a:t>
            </a:r>
          </a:p>
          <a:p>
            <a:pPr lvl="1"/>
            <a:r>
              <a:rPr lang="nb-NO" dirty="0"/>
              <a:t>Filtrer etter arbeidsområder, domener, nøkkelord eller elementtype</a:t>
            </a:r>
          </a:p>
        </p:txBody>
      </p:sp>
    </p:spTree>
    <p:extLst>
      <p:ext uri="{BB962C8B-B14F-4D97-AF65-F5344CB8AC3E}">
        <p14:creationId xmlns:p14="http://schemas.microsoft.com/office/powerpoint/2010/main" val="2964485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kjermbilde av OneLake-katalogen.">
            <a:extLst>
              <a:ext uri="{FF2B5EF4-FFF2-40B4-BE49-F238E27FC236}">
                <a16:creationId xmlns:a16="http://schemas.microsoft.com/office/drawing/2014/main" id="{B3D4BB21-6CA6-D0EC-8722-1ED3F1AA1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975"/>
            <a:ext cx="12192000" cy="624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Sylinder 1">
            <a:extLst>
              <a:ext uri="{FF2B5EF4-FFF2-40B4-BE49-F238E27FC236}">
                <a16:creationId xmlns:a16="http://schemas.microsoft.com/office/drawing/2014/main" id="{3F6A481D-5D7D-F87A-5B9E-5C6EC7CAAF5C}"/>
              </a:ext>
            </a:extLst>
          </p:cNvPr>
          <p:cNvSpPr txBox="1"/>
          <p:nvPr/>
        </p:nvSpPr>
        <p:spPr>
          <a:xfrm>
            <a:off x="0" y="6604084"/>
            <a:ext cx="428265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050" dirty="0"/>
              <a:t>Kilde: Microsoft </a:t>
            </a:r>
            <a:r>
              <a:rPr lang="nb-NO" sz="1050" dirty="0" err="1"/>
              <a:t>Learn</a:t>
            </a:r>
            <a:r>
              <a:rPr lang="nb-NO" sz="1050" dirty="0"/>
              <a:t> – DP‑600T00: Microsoft </a:t>
            </a:r>
            <a:r>
              <a:rPr lang="nb-NO" sz="1050" dirty="0" err="1"/>
              <a:t>Fabric</a:t>
            </a:r>
            <a:r>
              <a:rPr lang="nb-NO" sz="1050" dirty="0"/>
              <a:t> Analytics </a:t>
            </a:r>
            <a:r>
              <a:rPr lang="nb-NO" sz="1050" dirty="0" err="1"/>
              <a:t>Engineer</a:t>
            </a:r>
            <a:endParaRPr lang="nb-NO" sz="1050" dirty="0"/>
          </a:p>
        </p:txBody>
      </p:sp>
    </p:spTree>
    <p:extLst>
      <p:ext uri="{BB962C8B-B14F-4D97-AF65-F5344CB8AC3E}">
        <p14:creationId xmlns:p14="http://schemas.microsoft.com/office/powerpoint/2010/main" val="77259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A207-A910-CB92-0D6B-048F45F9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D57B4F-9BDD-1854-5478-D2450A43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Aktivere og ta i bruk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6ACDF1F-D3B5-9CE6-9BF5-110F9A374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1" dirty="0"/>
              <a:t>Opprett elementer med arbeidsbelastninger:</a:t>
            </a:r>
            <a:endParaRPr lang="nb-NO" dirty="0"/>
          </a:p>
          <a:p>
            <a:pPr lvl="1"/>
            <a:r>
              <a:rPr lang="nb-NO" dirty="0"/>
              <a:t>Data </a:t>
            </a:r>
            <a:r>
              <a:rPr lang="nb-NO" dirty="0" err="1"/>
              <a:t>Engineer</a:t>
            </a:r>
            <a:r>
              <a:rPr lang="nb-NO" dirty="0"/>
              <a:t>: lakehouses, pipelines, dataflyt</a:t>
            </a:r>
          </a:p>
          <a:p>
            <a:pPr lvl="1"/>
            <a:r>
              <a:rPr lang="nb-NO" dirty="0"/>
              <a:t>Data </a:t>
            </a:r>
            <a:r>
              <a:rPr lang="nb-NO" dirty="0" err="1"/>
              <a:t>Factory</a:t>
            </a:r>
            <a:r>
              <a:rPr lang="nb-NO" dirty="0"/>
              <a:t>: inntak, transformasjon, orkestrering</a:t>
            </a:r>
          </a:p>
          <a:p>
            <a:pPr lvl="1"/>
            <a:r>
              <a:rPr lang="nb-NO" dirty="0"/>
              <a:t>Datavitenskap: maskinlæring, trender, prediksjoner</a:t>
            </a:r>
          </a:p>
          <a:p>
            <a:pPr lvl="1"/>
            <a:r>
              <a:rPr lang="nb-NO" dirty="0"/>
              <a:t>Data Warehouse &amp; Database: SQL, integrerte analyser</a:t>
            </a:r>
          </a:p>
          <a:p>
            <a:pPr lvl="1"/>
            <a:r>
              <a:rPr lang="nb-NO" dirty="0"/>
              <a:t>Power BI: rapporter og </a:t>
            </a:r>
            <a:r>
              <a:rPr lang="nb-NO" dirty="0" err="1"/>
              <a:t>dashboards</a:t>
            </a:r>
            <a:endParaRPr lang="nb-NO" dirty="0"/>
          </a:p>
          <a:p>
            <a:pPr lvl="1"/>
            <a:r>
              <a:rPr lang="nb-NO" dirty="0"/>
              <a:t>Real-Time </a:t>
            </a:r>
            <a:r>
              <a:rPr lang="nb-NO" dirty="0" err="1"/>
              <a:t>Intelligence</a:t>
            </a:r>
            <a:r>
              <a:rPr lang="nb-NO" dirty="0"/>
              <a:t>: strømming og analyser</a:t>
            </a:r>
          </a:p>
          <a:p>
            <a:pPr marL="0" indent="0">
              <a:buNone/>
            </a:pPr>
            <a:r>
              <a:rPr lang="nb-NO" b="1" dirty="0"/>
              <a:t>Øk produktivitet med </a:t>
            </a:r>
            <a:r>
              <a:rPr lang="nb-NO" b="1" dirty="0" err="1"/>
              <a:t>Copilot</a:t>
            </a:r>
            <a:r>
              <a:rPr lang="nb-NO" b="1" dirty="0"/>
              <a:t>:</a:t>
            </a:r>
            <a:endParaRPr lang="nb-NO" dirty="0"/>
          </a:p>
          <a:p>
            <a:pPr lvl="1"/>
            <a:r>
              <a:rPr lang="nb-NO" dirty="0"/>
              <a:t>AI-assistent for kodefullføring, SQL-spørringer og rapportgenerering</a:t>
            </a:r>
          </a:p>
          <a:p>
            <a:pPr lvl="1"/>
            <a:r>
              <a:rPr lang="nb-NO" dirty="0"/>
              <a:t>Funksjoner for alle arbeidsbelastninger: Data Engineering, Dataforskning, Power BI, Real-Time </a:t>
            </a:r>
            <a:r>
              <a:rPr lang="nb-NO" dirty="0" err="1"/>
              <a:t>Intelligence</a:t>
            </a:r>
            <a:endParaRPr lang="nb-NO" dirty="0"/>
          </a:p>
          <a:p>
            <a:pPr lvl="1"/>
            <a:r>
              <a:rPr lang="nb-NO" dirty="0"/>
              <a:t>Administrasjon krever aktivering i leierinnstillinger</a:t>
            </a:r>
          </a:p>
        </p:txBody>
      </p:sp>
    </p:spTree>
    <p:extLst>
      <p:ext uri="{BB962C8B-B14F-4D97-AF65-F5344CB8AC3E}">
        <p14:creationId xmlns:p14="http://schemas.microsoft.com/office/powerpoint/2010/main" val="3450310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99BD8CB-47AE-556F-2DF5-9008F1FD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Oppsummering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F4179EB-ADE1-6628-D833-D7AAA3EA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nb-NO" dirty="0"/>
              <a:t>Datateknikere forventes i dag å håndtere stadig større og mer komplekse datamengder – på en måte som er </a:t>
            </a:r>
            <a:r>
              <a:rPr lang="nb-NO" b="1" dirty="0"/>
              <a:t>skalerbar, sikker, kompatibel og kostnadseffektiv</a:t>
            </a:r>
            <a:r>
              <a:rPr lang="nb-NO" dirty="0"/>
              <a:t>. Samtidig stiller virksomheten høyere krav til raskere innsikt og bedre beslutningsgrunnlag.</a:t>
            </a:r>
          </a:p>
          <a:p>
            <a:pPr marL="0" indent="0">
              <a:buNone/>
            </a:pPr>
            <a:r>
              <a:rPr lang="nb-NO" dirty="0"/>
              <a:t>Microsoft </a:t>
            </a:r>
            <a:r>
              <a:rPr lang="nb-NO" dirty="0" err="1"/>
              <a:t>Fabric</a:t>
            </a:r>
            <a:r>
              <a:rPr lang="nb-NO" dirty="0"/>
              <a:t> samler verktøyene som trengs for å møte disse kravene i én helhetlig plattform.</a:t>
            </a:r>
          </a:p>
          <a:p>
            <a:pPr marL="0" indent="0">
              <a:buNone/>
            </a:pPr>
            <a:r>
              <a:rPr lang="nb-NO" dirty="0"/>
              <a:t>I denne modulen har vi:</a:t>
            </a:r>
          </a:p>
          <a:p>
            <a:pPr lvl="1"/>
            <a:r>
              <a:rPr lang="nb-NO" dirty="0"/>
              <a:t>Fått en introduksjon til </a:t>
            </a:r>
            <a:r>
              <a:rPr lang="nb-NO" b="1" dirty="0" err="1"/>
              <a:t>OneLake</a:t>
            </a:r>
            <a:r>
              <a:rPr lang="nb-NO" dirty="0"/>
              <a:t> som felles og sentralisert datalagring</a:t>
            </a:r>
          </a:p>
          <a:p>
            <a:pPr lvl="1"/>
            <a:r>
              <a:rPr lang="nb-NO" dirty="0"/>
              <a:t>Utforsket de ulike </a:t>
            </a:r>
            <a:r>
              <a:rPr lang="nb-NO" b="1" dirty="0"/>
              <a:t>arbeidsbelastningene i </a:t>
            </a:r>
            <a:r>
              <a:rPr lang="nb-NO" b="1" dirty="0" err="1"/>
              <a:t>Fabric</a:t>
            </a:r>
            <a:r>
              <a:rPr lang="nb-NO" dirty="0"/>
              <a:t> – fra datateknikk til Power BI</a:t>
            </a:r>
          </a:p>
          <a:p>
            <a:pPr lvl="1"/>
            <a:r>
              <a:rPr lang="nb-NO" dirty="0"/>
              <a:t>Sett hvordan </a:t>
            </a:r>
            <a:r>
              <a:rPr lang="nb-NO" dirty="0" err="1"/>
              <a:t>Fabric</a:t>
            </a:r>
            <a:r>
              <a:rPr lang="nb-NO" dirty="0"/>
              <a:t> </a:t>
            </a:r>
            <a:r>
              <a:rPr lang="nb-NO" b="1" dirty="0"/>
              <a:t>aktiveres og administreres</a:t>
            </a:r>
            <a:r>
              <a:rPr lang="nb-NO" dirty="0"/>
              <a:t> i organisasjonen</a:t>
            </a:r>
          </a:p>
          <a:p>
            <a:pPr lvl="1"/>
            <a:r>
              <a:rPr lang="nb-NO" dirty="0"/>
              <a:t>Forstått hvordan </a:t>
            </a:r>
            <a:r>
              <a:rPr lang="nb-NO" b="1" dirty="0" err="1"/>
              <a:t>Copilot</a:t>
            </a:r>
            <a:r>
              <a:rPr lang="nb-NO" dirty="0"/>
              <a:t> kan øke produktiviteten gjennom intelligent AI-assistanse</a:t>
            </a:r>
          </a:p>
          <a:p>
            <a:pPr marL="0" indent="0">
              <a:buNone/>
            </a:pPr>
            <a:r>
              <a:rPr lang="nb-NO" dirty="0"/>
              <a:t>Til sammen gir dette et fundament for å bygge en moderne, samarbeidende og fremtidsrettet dataplattform.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19865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B63ECF5-8DF5-8914-BEEA-0377B8B1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Neste møte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29742727-E059-0A99-A935-DE4926E9F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nb-NO" altLang="nb-NO" sz="2400" b="1" dirty="0"/>
              <a:t>Fokus</a:t>
            </a:r>
            <a:r>
              <a:rPr lang="nb-NO" altLang="nb-NO" sz="2400" dirty="0"/>
              <a:t>: Kom i gang med Lakehouses i Microsoft </a:t>
            </a:r>
            <a:r>
              <a:rPr lang="nb-NO" altLang="nb-NO" sz="2400" dirty="0" err="1"/>
              <a:t>Fabric</a:t>
            </a:r>
            <a:endParaRPr lang="nb-NO" altLang="nb-NO" sz="2400" dirty="0"/>
          </a:p>
          <a:p>
            <a:pPr marL="0" indent="0">
              <a:buNone/>
            </a:pPr>
            <a:r>
              <a:rPr lang="nb-NO" sz="2400" b="1" dirty="0"/>
              <a:t>Dette skal vi lære:</a:t>
            </a:r>
          </a:p>
          <a:p>
            <a:pPr lvl="1"/>
            <a:r>
              <a:rPr lang="nb-NO" sz="2000" dirty="0"/>
              <a:t>Hva et Lakehouse er og hvordan det fungerer i </a:t>
            </a:r>
            <a:r>
              <a:rPr lang="nb-NO" sz="2000" dirty="0" err="1"/>
              <a:t>Fabric</a:t>
            </a:r>
            <a:endParaRPr lang="nb-NO" sz="2000" dirty="0"/>
          </a:p>
          <a:p>
            <a:pPr lvl="1"/>
            <a:r>
              <a:rPr lang="nb-NO" sz="2000" dirty="0"/>
              <a:t>Opprette et Lakehouse i et arbeidsområde</a:t>
            </a:r>
          </a:p>
          <a:p>
            <a:pPr lvl="1"/>
            <a:r>
              <a:rPr lang="nb-NO" sz="2000" dirty="0"/>
              <a:t>Laste inn data til filer og tabeller</a:t>
            </a:r>
          </a:p>
          <a:p>
            <a:pPr lvl="1"/>
            <a:r>
              <a:rPr lang="nb-NO" sz="2000" dirty="0"/>
              <a:t>Kjøre SQL-spørringer mot Lakehouse-tabeller</a:t>
            </a:r>
          </a:p>
          <a:p>
            <a:pPr marL="0" indent="0">
              <a:buNone/>
            </a:pPr>
            <a:r>
              <a:rPr lang="nb-NO" sz="2400" b="1" dirty="0"/>
              <a:t> </a:t>
            </a:r>
            <a:r>
              <a:rPr lang="nb-NO" sz="2400" b="1" dirty="0" err="1"/>
              <a:t>Hands-on</a:t>
            </a:r>
            <a:endParaRPr lang="nb-NO" sz="2400" b="1" dirty="0"/>
          </a:p>
          <a:p>
            <a:pPr lvl="1"/>
            <a:r>
              <a:rPr lang="nb-NO" sz="2000" dirty="0"/>
              <a:t>Praktisk øvelse hvor vi:</a:t>
            </a:r>
          </a:p>
          <a:p>
            <a:pPr lvl="1"/>
            <a:r>
              <a:rPr lang="nb-NO" sz="2000" dirty="0"/>
              <a:t>Oppretter et Lakehouse</a:t>
            </a:r>
          </a:p>
          <a:p>
            <a:pPr lvl="1"/>
            <a:r>
              <a:rPr lang="nb-NO" sz="2000" dirty="0"/>
              <a:t>Importerer eksempeldatasett</a:t>
            </a:r>
          </a:p>
          <a:p>
            <a:pPr lvl="1"/>
            <a:r>
              <a:rPr lang="nb-NO" sz="2000" dirty="0"/>
              <a:t>Utforsker og transformerer data</a:t>
            </a:r>
          </a:p>
          <a:p>
            <a:pPr lvl="1"/>
            <a:r>
              <a:rPr lang="nb-NO" sz="2000" dirty="0"/>
              <a:t>Kjører enkle SQL-spørringer</a:t>
            </a:r>
          </a:p>
          <a:p>
            <a:pPr marL="0" indent="0">
              <a:buNone/>
            </a:pPr>
            <a:r>
              <a:rPr lang="nb-NO" sz="2400" dirty="0"/>
              <a:t>Målet er å gi dere praktisk erfaring med en sentral byggestein i Microsoft </a:t>
            </a:r>
            <a:r>
              <a:rPr lang="nb-NO" sz="2400" dirty="0" err="1"/>
              <a:t>Fabric</a:t>
            </a:r>
            <a:r>
              <a:rPr lang="nb-NO" sz="2400" dirty="0"/>
              <a:t>.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03407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</TotalTime>
  <Words>1198</Words>
  <Application>Microsoft Office PowerPoint</Application>
  <PresentationFormat>Widescreen</PresentationFormat>
  <Paragraphs>157</Paragraphs>
  <Slides>18</Slides>
  <Notes>7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Microsoft Fabric Platform Enablement Program – HSØ</vt:lpstr>
      <vt:lpstr>Velkommen til Microsoft Fabric Platform Enablement Program – HSØ</vt:lpstr>
      <vt:lpstr>Kort om meg</vt:lpstr>
      <vt:lpstr>Formålet med serien</vt:lpstr>
      <vt:lpstr>Hva ønsker dere å få ut av serien?</vt:lpstr>
      <vt:lpstr>Innføring i ende-til-ende-analyse</vt:lpstr>
      <vt:lpstr>PowerPoint-presentasjon</vt:lpstr>
      <vt:lpstr>Utforske ende-til-ende-analyse med Microsoft Fabric</vt:lpstr>
      <vt:lpstr>Utforske ende-til-ende-analyse med Microsoft Fabric</vt:lpstr>
      <vt:lpstr>Datateam og Microsoft Fabric</vt:lpstr>
      <vt:lpstr>Datateam og Microsoft Fabric</vt:lpstr>
      <vt:lpstr>Aktivere og ta i bruk Microsoft Fabric</vt:lpstr>
      <vt:lpstr>PowerPoint-presentasjon</vt:lpstr>
      <vt:lpstr>Aktivere og ta i bruk Microsoft Fabric</vt:lpstr>
      <vt:lpstr>PowerPoint-presentasjon</vt:lpstr>
      <vt:lpstr>Aktivere og ta i bruk Microsoft Fabric</vt:lpstr>
      <vt:lpstr>Oppsummering</vt:lpstr>
      <vt:lpstr>Neste møte</vt:lpstr>
    </vt:vector>
  </TitlesOfParts>
  <Company>Helse Sor-Ost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Mohammadamin Sahraei</dc:creator>
  <cp:lastModifiedBy>Mohammadamin Sahraei</cp:lastModifiedBy>
  <cp:revision>5</cp:revision>
  <dcterms:created xsi:type="dcterms:W3CDTF">2026-02-18T12:59:19Z</dcterms:created>
  <dcterms:modified xsi:type="dcterms:W3CDTF">2026-02-20T13:29:59Z</dcterms:modified>
</cp:coreProperties>
</file>