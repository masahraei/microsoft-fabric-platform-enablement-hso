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74" r:id="rId4"/>
    <p:sldId id="258" r:id="rId5"/>
    <p:sldId id="259" r:id="rId6"/>
    <p:sldId id="266" r:id="rId7"/>
    <p:sldId id="261" r:id="rId8"/>
    <p:sldId id="281" r:id="rId9"/>
    <p:sldId id="277" r:id="rId10"/>
    <p:sldId id="278" r:id="rId11"/>
    <p:sldId id="287" r:id="rId12"/>
    <p:sldId id="288" r:id="rId13"/>
    <p:sldId id="262" r:id="rId14"/>
    <p:sldId id="279" r:id="rId15"/>
    <p:sldId id="280" r:id="rId16"/>
    <p:sldId id="283" r:id="rId17"/>
    <p:sldId id="284" r:id="rId18"/>
    <p:sldId id="285" r:id="rId19"/>
    <p:sldId id="289" r:id="rId20"/>
    <p:sldId id="290" r:id="rId21"/>
    <p:sldId id="286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88" autoAdjust="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outlineViewPr>
    <p:cViewPr>
      <p:scale>
        <a:sx n="33" d="100"/>
        <a:sy n="33" d="100"/>
      </p:scale>
      <p:origin x="0" y="-102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9580B4F5-EF34-4076-4801-ABDB2B3E98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24A1B5D-1D47-65C3-0D04-FAB3144EF3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A9A1A-9B7B-43B6-83E2-1C3BA71C36FA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79ED775F-2891-E292-6656-920749C3D9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018A42F-295D-9CB3-1449-AFF424BEDC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AEEAD8-56DE-4448-BD88-1C5AF440A56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6757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B905-4A17-4C59-B503-877828FB4C10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91F26-338A-419B-9087-0422F6EF9B14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8408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38835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2155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D76AC-B2BF-8BE0-004B-9DAF40A7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00FE888E-A3F6-5D2D-AE97-03D8296132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223AE9F1-894A-8EA4-EC7B-2B9E4C4B8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BC313400-295A-E642-2100-4691A706F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26123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14617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204125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32869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91F26-338A-419B-9087-0422F6EF9B14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6601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3707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693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2901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74526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3329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4308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3224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8353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på ikonet for å legge til et bilde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9959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780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3832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927FC00-9BC0-4D7A-9885-363517CB8709}" type="datetimeFigureOut">
              <a:rPr lang="nb-NO" smtClean="0"/>
              <a:t>18.03.2026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E6FD8C1E-9556-4A69-857F-E339F75E3D8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7694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sahraei/microsoft-fabric-platform-enablement-hso/blob/main/exercises/02-Analyze-data-with-Apache-Spark.m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09B4444-E000-BA13-2C70-0BE5956C8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Microsoft </a:t>
            </a:r>
            <a:r>
              <a:rPr lang="nb-NO" dirty="0" err="1"/>
              <a:t>Fabric</a:t>
            </a:r>
            <a:r>
              <a:rPr lang="nb-NO" dirty="0"/>
              <a:t> Platform Enablement Program – HSØ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80B40CAB-C1C6-3BE1-4DCE-5C4B277437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en-US" b="1" dirty="0"/>
              <a:t>Workshop 3: </a:t>
            </a:r>
            <a:r>
              <a:rPr lang="nn-NO" b="1" dirty="0"/>
              <a:t>Bruk Apache Spark i Microsoft </a:t>
            </a:r>
            <a:r>
              <a:rPr lang="nn-NO" b="1" dirty="0" err="1"/>
              <a:t>Fabric</a:t>
            </a:r>
            <a:endParaRPr lang="en-US" b="1" dirty="0"/>
          </a:p>
          <a:p>
            <a:endParaRPr lang="nb-NO" dirty="0"/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12327863-90A0-AB4B-E5F4-982B5844B345}"/>
              </a:ext>
            </a:extLst>
          </p:cNvPr>
          <p:cNvSpPr txBox="1"/>
          <p:nvPr/>
        </p:nvSpPr>
        <p:spPr>
          <a:xfrm>
            <a:off x="2006" y="6581001"/>
            <a:ext cx="121899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dirty="0"/>
              <a:t>Dette seminar‑opplegget tar utgangspunkt i Microsoft </a:t>
            </a:r>
            <a:r>
              <a:rPr lang="nb-NO" sz="1200" dirty="0" err="1"/>
              <a:t>Learn</a:t>
            </a:r>
            <a:r>
              <a:rPr lang="nb-NO" sz="1200" dirty="0"/>
              <a:t> sin DP‑600T00 kursplan</a:t>
            </a:r>
          </a:p>
        </p:txBody>
      </p:sp>
    </p:spTree>
    <p:extLst>
      <p:ext uri="{BB962C8B-B14F-4D97-AF65-F5344CB8AC3E}">
        <p14:creationId xmlns:p14="http://schemas.microsoft.com/office/powerpoint/2010/main" val="386563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46D3EF-1FC8-3314-F085-40016B9FF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Hva er Apache Spark?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244BC66-0488-2B7B-5A9E-3F8B3CA5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Open </a:t>
            </a:r>
            <a:r>
              <a:rPr lang="nb-NO" dirty="0" err="1"/>
              <a:t>source</a:t>
            </a:r>
            <a:r>
              <a:rPr lang="nb-NO" dirty="0"/>
              <a:t> rammeverk for storskala databehandling</a:t>
            </a:r>
          </a:p>
          <a:p>
            <a:r>
              <a:rPr lang="nb-NO" dirty="0"/>
              <a:t>Bruker distribuert prosessering (“</a:t>
            </a:r>
            <a:r>
              <a:rPr lang="nb-NO" dirty="0" err="1"/>
              <a:t>divide</a:t>
            </a:r>
            <a:r>
              <a:rPr lang="nb-NO" dirty="0"/>
              <a:t> and </a:t>
            </a:r>
            <a:r>
              <a:rPr lang="nb-NO" dirty="0" err="1"/>
              <a:t>conquer</a:t>
            </a:r>
            <a:r>
              <a:rPr lang="nb-NO" dirty="0"/>
              <a:t>”)</a:t>
            </a:r>
          </a:p>
          <a:p>
            <a:r>
              <a:rPr lang="nb-NO" dirty="0"/>
              <a:t>Støtter flere språk:</a:t>
            </a:r>
          </a:p>
          <a:p>
            <a:pPr lvl="1"/>
            <a:r>
              <a:rPr lang="nb-NO" dirty="0" err="1"/>
              <a:t>PySpark</a:t>
            </a:r>
            <a:r>
              <a:rPr lang="nb-NO" dirty="0"/>
              <a:t> (mest brukt)</a:t>
            </a:r>
          </a:p>
          <a:p>
            <a:pPr lvl="1"/>
            <a:r>
              <a:rPr lang="nb-NO" dirty="0"/>
              <a:t>SQL</a:t>
            </a:r>
          </a:p>
          <a:p>
            <a:pPr lvl="1"/>
            <a:r>
              <a:rPr lang="nb-NO" dirty="0"/>
              <a:t>Scala</a:t>
            </a:r>
          </a:p>
          <a:p>
            <a:r>
              <a:rPr lang="nb-NO" dirty="0"/>
              <a:t>Brukes til:</a:t>
            </a:r>
          </a:p>
          <a:p>
            <a:pPr lvl="1"/>
            <a:r>
              <a:rPr lang="nb-NO" dirty="0"/>
              <a:t>Data </a:t>
            </a:r>
            <a:r>
              <a:rPr lang="nb-NO" dirty="0" err="1"/>
              <a:t>ingest</a:t>
            </a:r>
            <a:endParaRPr lang="nb-NO" dirty="0"/>
          </a:p>
          <a:p>
            <a:pPr lvl="1"/>
            <a:r>
              <a:rPr lang="nb-NO" dirty="0"/>
              <a:t>Transformasjon</a:t>
            </a:r>
          </a:p>
          <a:p>
            <a:pPr lvl="1"/>
            <a:r>
              <a:rPr lang="nb-NO" dirty="0"/>
              <a:t>Analyse</a:t>
            </a:r>
          </a:p>
        </p:txBody>
      </p:sp>
    </p:spTree>
    <p:extLst>
      <p:ext uri="{BB962C8B-B14F-4D97-AF65-F5344CB8AC3E}">
        <p14:creationId xmlns:p14="http://schemas.microsoft.com/office/powerpoint/2010/main" val="373767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D9C7-F1C6-E29C-8224-9C27DFEB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88F49EC-7F00-C660-6690-704B6893F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Spark i Microsoft </a:t>
            </a:r>
            <a:r>
              <a:rPr lang="nb-NO" dirty="0" err="1"/>
              <a:t>Fabric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ACD3BF8-6651-985F-F61A-5CA0E43B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Integrert i </a:t>
            </a:r>
            <a:r>
              <a:rPr lang="nb-NO" dirty="0" err="1"/>
              <a:t>Fabric</a:t>
            </a:r>
            <a:r>
              <a:rPr lang="nb-NO" dirty="0"/>
              <a:t>-plattformen</a:t>
            </a:r>
          </a:p>
          <a:p>
            <a:r>
              <a:rPr lang="nb-NO" dirty="0"/>
              <a:t>Jobber direkte med data i </a:t>
            </a:r>
            <a:r>
              <a:rPr lang="nb-NO" dirty="0" err="1"/>
              <a:t>OneLake</a:t>
            </a:r>
            <a:endParaRPr lang="nb-NO" dirty="0"/>
          </a:p>
          <a:p>
            <a:r>
              <a:rPr lang="nb-NO" dirty="0"/>
              <a:t>Enklere samarbeid mellom roller:</a:t>
            </a:r>
          </a:p>
          <a:p>
            <a:pPr lvl="1"/>
            <a:r>
              <a:rPr lang="nb-NO" dirty="0"/>
              <a:t>Data </a:t>
            </a:r>
            <a:r>
              <a:rPr lang="nb-NO" dirty="0" err="1"/>
              <a:t>engineers</a:t>
            </a:r>
            <a:endParaRPr lang="nb-NO" dirty="0"/>
          </a:p>
          <a:p>
            <a:pPr lvl="1"/>
            <a:r>
              <a:rPr lang="nb-NO" dirty="0"/>
              <a:t>Data </a:t>
            </a:r>
            <a:r>
              <a:rPr lang="nb-NO" dirty="0" err="1"/>
              <a:t>analysts</a:t>
            </a:r>
            <a:endParaRPr lang="nb-NO" dirty="0"/>
          </a:p>
          <a:p>
            <a:pPr lvl="1"/>
            <a:r>
              <a:rPr lang="nb-NO" dirty="0"/>
              <a:t>Data scientists</a:t>
            </a:r>
          </a:p>
          <a:p>
            <a:r>
              <a:rPr lang="nb-NO" dirty="0"/>
              <a:t>Ingen behov for separate plattformer</a:t>
            </a:r>
          </a:p>
        </p:txBody>
      </p:sp>
    </p:spTree>
    <p:extLst>
      <p:ext uri="{BB962C8B-B14F-4D97-AF65-F5344CB8AC3E}">
        <p14:creationId xmlns:p14="http://schemas.microsoft.com/office/powerpoint/2010/main" val="551641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44F7E7-428D-24BB-EE63-BF3DA346B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Spark Pools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6778F47-0EF1-49BF-0FE1-04C4160A3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/>
          </a:bodyPr>
          <a:lstStyle/>
          <a:p>
            <a:r>
              <a:rPr lang="nb-NO" dirty="0"/>
              <a:t>Samling av </a:t>
            </a:r>
            <a:r>
              <a:rPr lang="nb-NO" dirty="0" err="1"/>
              <a:t>compute</a:t>
            </a:r>
            <a:r>
              <a:rPr lang="nb-NO" dirty="0"/>
              <a:t>-noder</a:t>
            </a:r>
          </a:p>
          <a:p>
            <a:r>
              <a:rPr lang="nb-NO" dirty="0"/>
              <a:t>To typer noder:</a:t>
            </a:r>
          </a:p>
          <a:p>
            <a:pPr lvl="1"/>
            <a:r>
              <a:rPr lang="nb-NO" dirty="0"/>
              <a:t>Head node (driver) – styrer jobben</a:t>
            </a:r>
          </a:p>
          <a:p>
            <a:pPr lvl="1"/>
            <a:r>
              <a:rPr lang="nb-NO" dirty="0" err="1"/>
              <a:t>Worker</a:t>
            </a:r>
            <a:r>
              <a:rPr lang="nb-NO" dirty="0"/>
              <a:t> nodes (</a:t>
            </a:r>
            <a:r>
              <a:rPr lang="nb-NO" dirty="0" err="1"/>
              <a:t>executors</a:t>
            </a:r>
            <a:r>
              <a:rPr lang="nb-NO" dirty="0"/>
              <a:t>) – utfører prosessering</a:t>
            </a:r>
          </a:p>
          <a:p>
            <a:r>
              <a:rPr lang="nb-NO" dirty="0" err="1"/>
              <a:t>Fabric</a:t>
            </a:r>
            <a:r>
              <a:rPr lang="nb-NO" dirty="0"/>
              <a:t> tilbyr:</a:t>
            </a:r>
          </a:p>
          <a:p>
            <a:pPr lvl="1"/>
            <a:r>
              <a:rPr lang="nb-NO" dirty="0"/>
              <a:t>Starter pool (klar til bruk)</a:t>
            </a:r>
          </a:p>
          <a:p>
            <a:pPr lvl="1"/>
            <a:r>
              <a:rPr lang="nb-NO" dirty="0" err="1"/>
              <a:t>Custom</a:t>
            </a:r>
            <a:r>
              <a:rPr lang="nb-NO" dirty="0"/>
              <a:t> pools (tilpasset behov)</a:t>
            </a:r>
          </a:p>
        </p:txBody>
      </p:sp>
      <p:pic>
        <p:nvPicPr>
          <p:cNvPr id="3077" name="Picture 5" descr="Diagram of a Spark pool.">
            <a:extLst>
              <a:ext uri="{FF2B5EF4-FFF2-40B4-BE49-F238E27FC236}">
                <a16:creationId xmlns:a16="http://schemas.microsoft.com/office/drawing/2014/main" id="{AE2D6515-680E-F760-C26F-A75DA3576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1690688"/>
            <a:ext cx="428625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422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5B94930-778F-06A9-F4C5-B5125C2C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Konfigurasjon av Spark Pools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7EAADED-A71A-5323-C92A-B245BCBF8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Node type (</a:t>
            </a:r>
            <a:r>
              <a:rPr lang="nb-NO" dirty="0" err="1"/>
              <a:t>memory</a:t>
            </a:r>
            <a:r>
              <a:rPr lang="nb-NO" dirty="0"/>
              <a:t> </a:t>
            </a:r>
            <a:r>
              <a:rPr lang="nb-NO" dirty="0" err="1"/>
              <a:t>optimized</a:t>
            </a:r>
            <a:r>
              <a:rPr lang="nb-NO" dirty="0"/>
              <a:t> anbefales)</a:t>
            </a:r>
          </a:p>
          <a:p>
            <a:r>
              <a:rPr lang="nb-NO" dirty="0" err="1"/>
              <a:t>Autoscale</a:t>
            </a:r>
            <a:r>
              <a:rPr lang="nb-NO" dirty="0"/>
              <a:t> (automatisk skalering)</a:t>
            </a:r>
          </a:p>
          <a:p>
            <a:r>
              <a:rPr lang="nb-NO" dirty="0" err="1"/>
              <a:t>Dynamic</a:t>
            </a:r>
            <a:r>
              <a:rPr lang="nb-NO" dirty="0"/>
              <a:t> </a:t>
            </a:r>
            <a:r>
              <a:rPr lang="nb-NO" dirty="0" err="1"/>
              <a:t>allocation</a:t>
            </a:r>
            <a:r>
              <a:rPr lang="nb-NO" dirty="0"/>
              <a:t> (optimal ressursbruk)</a:t>
            </a:r>
          </a:p>
          <a:p>
            <a:r>
              <a:rPr lang="nb-NO" dirty="0"/>
              <a:t>Kan settes som </a:t>
            </a:r>
            <a:r>
              <a:rPr lang="nb-NO" dirty="0" err="1"/>
              <a:t>default</a:t>
            </a:r>
            <a:r>
              <a:rPr lang="nb-NO" dirty="0"/>
              <a:t> per </a:t>
            </a:r>
            <a:r>
              <a:rPr lang="nb-NO" dirty="0" err="1"/>
              <a:t>workspace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583539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4F64C-B3F5-1B9A-7F56-E2485C9C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creenshot of the Spark settings page in Microsoft Fabric.">
            <a:extLst>
              <a:ext uri="{FF2B5EF4-FFF2-40B4-BE49-F238E27FC236}">
                <a16:creationId xmlns:a16="http://schemas.microsoft.com/office/drawing/2014/main" id="{5DE4A6F8-0841-4805-E347-12D0EE732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212" y="0"/>
            <a:ext cx="98075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8DE984CF-F9F8-72AC-21AF-75130E41344C}"/>
              </a:ext>
            </a:extLst>
          </p:cNvPr>
          <p:cNvSpPr txBox="1"/>
          <p:nvPr/>
        </p:nvSpPr>
        <p:spPr>
          <a:xfrm>
            <a:off x="1135563" y="6657945"/>
            <a:ext cx="2941137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700" dirty="0">
                <a:solidFill>
                  <a:schemeClr val="bg1"/>
                </a:solidFill>
              </a:rPr>
              <a:t>Kilde: Microsoft </a:t>
            </a:r>
            <a:r>
              <a:rPr lang="nb-NO" sz="700" dirty="0" err="1">
                <a:solidFill>
                  <a:schemeClr val="bg1"/>
                </a:solidFill>
              </a:rPr>
              <a:t>Learn</a:t>
            </a:r>
            <a:r>
              <a:rPr lang="nb-NO" sz="700" dirty="0">
                <a:solidFill>
                  <a:schemeClr val="bg1"/>
                </a:solidFill>
              </a:rPr>
              <a:t> – DP‑600T00: Microsoft </a:t>
            </a:r>
            <a:r>
              <a:rPr lang="nb-NO" sz="700" dirty="0" err="1">
                <a:solidFill>
                  <a:schemeClr val="bg1"/>
                </a:solidFill>
              </a:rPr>
              <a:t>Fabric</a:t>
            </a:r>
            <a:r>
              <a:rPr lang="nb-NO" sz="700" dirty="0">
                <a:solidFill>
                  <a:schemeClr val="bg1"/>
                </a:solidFill>
              </a:rPr>
              <a:t> Analytics </a:t>
            </a:r>
            <a:r>
              <a:rPr lang="nb-NO" sz="700" dirty="0" err="1">
                <a:solidFill>
                  <a:schemeClr val="bg1"/>
                </a:solidFill>
              </a:rPr>
              <a:t>Engineer</a:t>
            </a:r>
            <a:endParaRPr lang="nb-NO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753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AEF125-0F78-D5BE-65D8-23F49A20F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Runtimes og Environments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7F08A32-986D-F32C-2F0E-F3104B13D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Runtime = versjon av Spark, Python, Delta Lake</a:t>
            </a:r>
          </a:p>
          <a:p>
            <a:r>
              <a:rPr lang="nb-NO" dirty="0"/>
              <a:t>Environment = konfigurasjon av:</a:t>
            </a:r>
          </a:p>
          <a:p>
            <a:pPr lvl="1"/>
            <a:r>
              <a:rPr lang="nb-NO" dirty="0"/>
              <a:t>Biblioteker (</a:t>
            </a:r>
            <a:r>
              <a:rPr lang="nb-NO" dirty="0" err="1"/>
              <a:t>PyPI</a:t>
            </a:r>
            <a:r>
              <a:rPr lang="nb-NO" dirty="0"/>
              <a:t>, </a:t>
            </a:r>
            <a:r>
              <a:rPr lang="nb-NO" dirty="0" err="1"/>
              <a:t>custom</a:t>
            </a:r>
            <a:r>
              <a:rPr lang="nb-NO" dirty="0"/>
              <a:t>)</a:t>
            </a:r>
          </a:p>
          <a:p>
            <a:pPr lvl="1"/>
            <a:r>
              <a:rPr lang="nb-NO" dirty="0"/>
              <a:t>Runtime</a:t>
            </a:r>
          </a:p>
          <a:p>
            <a:pPr lvl="1"/>
            <a:r>
              <a:rPr lang="nb-NO" dirty="0"/>
              <a:t>Spark settings</a:t>
            </a:r>
          </a:p>
          <a:p>
            <a:r>
              <a:rPr lang="nb-NO" dirty="0"/>
              <a:t>Mulig å ha flere miljøer for ulike behov</a:t>
            </a:r>
          </a:p>
        </p:txBody>
      </p:sp>
    </p:spTree>
    <p:extLst>
      <p:ext uri="{BB962C8B-B14F-4D97-AF65-F5344CB8AC3E}">
        <p14:creationId xmlns:p14="http://schemas.microsoft.com/office/powerpoint/2010/main" val="304961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74F3F-20B4-2D96-0115-1CD70EE20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Screenshot of the Environment page in Microsoft Fabric.">
            <a:extLst>
              <a:ext uri="{FF2B5EF4-FFF2-40B4-BE49-F238E27FC236}">
                <a16:creationId xmlns:a16="http://schemas.microsoft.com/office/drawing/2014/main" id="{32846CFD-FEE1-47FE-F4E5-427F67528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" y="0"/>
            <a:ext cx="120792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kstSylinder 8">
            <a:extLst>
              <a:ext uri="{FF2B5EF4-FFF2-40B4-BE49-F238E27FC236}">
                <a16:creationId xmlns:a16="http://schemas.microsoft.com/office/drawing/2014/main" id="{DA472C98-03BF-D6BD-EAB0-3BDED56472B0}"/>
              </a:ext>
            </a:extLst>
          </p:cNvPr>
          <p:cNvSpPr txBox="1"/>
          <p:nvPr/>
        </p:nvSpPr>
        <p:spPr>
          <a:xfrm>
            <a:off x="762001" y="6673334"/>
            <a:ext cx="25526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600" dirty="0">
                <a:solidFill>
                  <a:schemeClr val="bg1"/>
                </a:solidFill>
              </a:rPr>
              <a:t>Kilde: Microsoft </a:t>
            </a:r>
            <a:r>
              <a:rPr lang="nb-NO" sz="600" dirty="0" err="1">
                <a:solidFill>
                  <a:schemeClr val="bg1"/>
                </a:solidFill>
              </a:rPr>
              <a:t>Learn</a:t>
            </a:r>
            <a:r>
              <a:rPr lang="nb-NO" sz="600" dirty="0">
                <a:solidFill>
                  <a:schemeClr val="bg1"/>
                </a:solidFill>
              </a:rPr>
              <a:t> – DP‑600T00: Microsoft </a:t>
            </a:r>
            <a:r>
              <a:rPr lang="nb-NO" sz="600" dirty="0" err="1">
                <a:solidFill>
                  <a:schemeClr val="bg1"/>
                </a:solidFill>
              </a:rPr>
              <a:t>Fabric</a:t>
            </a:r>
            <a:r>
              <a:rPr lang="nb-NO" sz="600" dirty="0">
                <a:solidFill>
                  <a:schemeClr val="bg1"/>
                </a:solidFill>
              </a:rPr>
              <a:t> Analytics </a:t>
            </a:r>
            <a:r>
              <a:rPr lang="nb-NO" sz="600" dirty="0" err="1">
                <a:solidFill>
                  <a:schemeClr val="bg1"/>
                </a:solidFill>
              </a:rPr>
              <a:t>Engineer</a:t>
            </a:r>
            <a:endParaRPr lang="nb-NO" sz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96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28F79-3760-F2DE-0F50-42D6D7C1B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E4ADDFB-BE02-A7CF-163C-92B8074C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Ekstra optimaliseringer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0C8560C-2267-F7B9-2682-ABB7343C5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Native </a:t>
            </a:r>
            <a:r>
              <a:rPr lang="nb-NO" b="1" dirty="0" err="1"/>
              <a:t>execution</a:t>
            </a:r>
            <a:r>
              <a:rPr lang="nb-NO" b="1" dirty="0"/>
              <a:t> </a:t>
            </a:r>
            <a:r>
              <a:rPr lang="nb-NO" b="1" dirty="0" err="1"/>
              <a:t>engine</a:t>
            </a:r>
            <a:r>
              <a:rPr lang="nb-NO" b="1" dirty="0"/>
              <a:t> </a:t>
            </a:r>
            <a:r>
              <a:rPr lang="nb-NO" dirty="0"/>
              <a:t>→ bedre ytelse</a:t>
            </a:r>
          </a:p>
          <a:p>
            <a:r>
              <a:rPr lang="nb-NO" b="1" dirty="0"/>
              <a:t>High </a:t>
            </a:r>
            <a:r>
              <a:rPr lang="nb-NO" b="1" dirty="0" err="1"/>
              <a:t>concurrency</a:t>
            </a:r>
            <a:r>
              <a:rPr lang="nb-NO" b="1" dirty="0"/>
              <a:t> mode </a:t>
            </a:r>
            <a:r>
              <a:rPr lang="nb-NO" dirty="0"/>
              <a:t>→ flere brukere samtidig</a:t>
            </a:r>
          </a:p>
          <a:p>
            <a:r>
              <a:rPr lang="nb-NO" b="1" dirty="0" err="1"/>
              <a:t>MLflow</a:t>
            </a:r>
            <a:r>
              <a:rPr lang="nb-NO" b="1" dirty="0"/>
              <a:t> logging </a:t>
            </a:r>
            <a:r>
              <a:rPr lang="nb-NO" dirty="0"/>
              <a:t>→ automatisk logging av ML-modeller</a:t>
            </a:r>
          </a:p>
        </p:txBody>
      </p:sp>
    </p:spTree>
    <p:extLst>
      <p:ext uri="{BB962C8B-B14F-4D97-AF65-F5344CB8AC3E}">
        <p14:creationId xmlns:p14="http://schemas.microsoft.com/office/powerpoint/2010/main" val="2696006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6A117-E7D9-D8F9-D2BE-9E8CA3DB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34B8E98-C681-E8A1-9132-66F3543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Hvordan kjøre Spark kode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6A7BEF4-5147-50A9-67F0-F73198BDB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Notebooks</a:t>
            </a:r>
          </a:p>
          <a:p>
            <a:pPr lvl="1"/>
            <a:r>
              <a:rPr lang="nb-NO" b="1" dirty="0"/>
              <a:t>Interaktiv analyse</a:t>
            </a:r>
          </a:p>
          <a:p>
            <a:pPr lvl="1"/>
            <a:r>
              <a:rPr lang="nb-NO" b="1" dirty="0"/>
              <a:t>Kombinerer kode, tekst og visualisering</a:t>
            </a:r>
          </a:p>
          <a:p>
            <a:r>
              <a:rPr lang="nb-NO" b="1" dirty="0"/>
              <a:t>Spark </a:t>
            </a:r>
            <a:r>
              <a:rPr lang="nb-NO" b="1" dirty="0" err="1"/>
              <a:t>job</a:t>
            </a:r>
            <a:r>
              <a:rPr lang="nb-NO" b="1" dirty="0"/>
              <a:t> </a:t>
            </a:r>
            <a:r>
              <a:rPr lang="nb-NO" b="1" dirty="0" err="1"/>
              <a:t>definition</a:t>
            </a:r>
            <a:endParaRPr lang="nb-NO" b="1" dirty="0"/>
          </a:p>
          <a:p>
            <a:pPr lvl="1"/>
            <a:r>
              <a:rPr lang="nb-NO" b="1" dirty="0"/>
              <a:t>Automatiserte prosesser</a:t>
            </a:r>
          </a:p>
          <a:p>
            <a:pPr lvl="1"/>
            <a:r>
              <a:rPr lang="nb-NO" b="1" dirty="0"/>
              <a:t>Kan kjøres på </a:t>
            </a:r>
            <a:r>
              <a:rPr lang="nb-NO" b="1" dirty="0" err="1"/>
              <a:t>schedule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3142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8E45-10B2-4222-4C7C-62E7BC85D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creenshot of a notebook in Microsoft Fabric.">
            <a:extLst>
              <a:ext uri="{FF2B5EF4-FFF2-40B4-BE49-F238E27FC236}">
                <a16:creationId xmlns:a16="http://schemas.microsoft.com/office/drawing/2014/main" id="{71BACDC7-A178-CC6D-8618-A7AC40A0F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0"/>
            <a:ext cx="1092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0AE39067-C5A6-3B3B-5915-7E7F9EB536C8}"/>
              </a:ext>
            </a:extLst>
          </p:cNvPr>
          <p:cNvSpPr txBox="1"/>
          <p:nvPr/>
        </p:nvSpPr>
        <p:spPr>
          <a:xfrm>
            <a:off x="635000" y="6673334"/>
            <a:ext cx="2552699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600" dirty="0">
                <a:solidFill>
                  <a:schemeClr val="bg1"/>
                </a:solidFill>
              </a:rPr>
              <a:t>Kilde: Microsoft </a:t>
            </a:r>
            <a:r>
              <a:rPr lang="nb-NO" sz="600" dirty="0" err="1">
                <a:solidFill>
                  <a:schemeClr val="bg1"/>
                </a:solidFill>
              </a:rPr>
              <a:t>Learn</a:t>
            </a:r>
            <a:r>
              <a:rPr lang="nb-NO" sz="600" dirty="0">
                <a:solidFill>
                  <a:schemeClr val="bg1"/>
                </a:solidFill>
              </a:rPr>
              <a:t> – DP‑600T00: Microsoft </a:t>
            </a:r>
            <a:r>
              <a:rPr lang="nb-NO" sz="600" dirty="0" err="1">
                <a:solidFill>
                  <a:schemeClr val="bg1"/>
                </a:solidFill>
              </a:rPr>
              <a:t>Fabric</a:t>
            </a:r>
            <a:r>
              <a:rPr lang="nb-NO" sz="600" dirty="0">
                <a:solidFill>
                  <a:schemeClr val="bg1"/>
                </a:solidFill>
              </a:rPr>
              <a:t> Analytics </a:t>
            </a:r>
            <a:r>
              <a:rPr lang="nb-NO" sz="600" dirty="0" err="1">
                <a:solidFill>
                  <a:schemeClr val="bg1"/>
                </a:solidFill>
              </a:rPr>
              <a:t>Engineer</a:t>
            </a:r>
            <a:endParaRPr lang="nb-NO" sz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841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59C0C-12EC-35E7-9D72-C8AAF9214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Sylinder 7">
            <a:extLst>
              <a:ext uri="{FF2B5EF4-FFF2-40B4-BE49-F238E27FC236}">
                <a16:creationId xmlns:a16="http://schemas.microsoft.com/office/drawing/2014/main" id="{1F12C2D3-F042-ACAE-C425-7489AFEE8B9D}"/>
              </a:ext>
            </a:extLst>
          </p:cNvPr>
          <p:cNvSpPr txBox="1"/>
          <p:nvPr/>
        </p:nvSpPr>
        <p:spPr>
          <a:xfrm>
            <a:off x="0" y="6581001"/>
            <a:ext cx="20343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600" dirty="0"/>
              <a:t>Kilde: Microsoft </a:t>
            </a:r>
            <a:r>
              <a:rPr lang="nb-NO" sz="600" dirty="0" err="1"/>
              <a:t>Learn</a:t>
            </a:r>
            <a:r>
              <a:rPr lang="nb-NO" sz="600" dirty="0"/>
              <a:t> – DP‑600T00: Microsoft </a:t>
            </a:r>
            <a:r>
              <a:rPr lang="nb-NO" sz="600" dirty="0" err="1"/>
              <a:t>Fabric</a:t>
            </a:r>
            <a:r>
              <a:rPr lang="nb-NO" sz="600" dirty="0"/>
              <a:t> Analytics </a:t>
            </a:r>
            <a:r>
              <a:rPr lang="nb-NO" sz="600" dirty="0" err="1"/>
              <a:t>Engineer</a:t>
            </a:r>
            <a:endParaRPr lang="nb-NO" sz="600" dirty="0"/>
          </a:p>
        </p:txBody>
      </p:sp>
      <p:pic>
        <p:nvPicPr>
          <p:cNvPr id="10242" name="Picture 2" descr="Screenshot of a Spark job definition in Microsoft Fabric.">
            <a:extLst>
              <a:ext uri="{FF2B5EF4-FFF2-40B4-BE49-F238E27FC236}">
                <a16:creationId xmlns:a16="http://schemas.microsoft.com/office/drawing/2014/main" id="{9E05D006-9785-C5F5-B5BE-2B09EB020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381" y="0"/>
            <a:ext cx="81232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007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FC394D8-19A0-5959-4E18-76795794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Dataframes</a:t>
            </a:r>
            <a:r>
              <a:rPr lang="nb-NO" dirty="0"/>
              <a:t> i Spark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C3D99E7-8454-146C-704F-B36B86127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Standard datastruktur for strukturert data</a:t>
            </a:r>
          </a:p>
          <a:p>
            <a:r>
              <a:rPr lang="nb-NO" b="1" dirty="0"/>
              <a:t>Ligner på Pandas, men distribuert</a:t>
            </a:r>
          </a:p>
          <a:p>
            <a:r>
              <a:rPr lang="nb-NO" b="1" dirty="0"/>
              <a:t>Brukes til:</a:t>
            </a:r>
          </a:p>
          <a:p>
            <a:pPr lvl="1"/>
            <a:r>
              <a:rPr lang="nb-NO" b="1" dirty="0"/>
              <a:t>Filtrering</a:t>
            </a:r>
          </a:p>
          <a:p>
            <a:pPr lvl="1"/>
            <a:r>
              <a:rPr lang="nb-NO" b="1" dirty="0"/>
              <a:t>Aggregering</a:t>
            </a:r>
          </a:p>
          <a:p>
            <a:pPr lvl="1"/>
            <a:r>
              <a:rPr lang="nb-NO" b="1" dirty="0"/>
              <a:t>Transformasjon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141405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81AA-2215-B3D4-C638-2F71FA02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D0EE62A-A4F4-D90C-5202-5148A432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Lese data (</a:t>
            </a:r>
            <a:r>
              <a:rPr lang="nb-NO" b="1" dirty="0" err="1"/>
              <a:t>PySpark</a:t>
            </a:r>
            <a:r>
              <a:rPr lang="nb-NO" b="1" dirty="0"/>
              <a:t>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ABB65BF-E844-2516-E4F9-109B6DAE1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Leser data fra lakehouse</a:t>
            </a:r>
          </a:p>
          <a:p>
            <a:r>
              <a:rPr lang="nb-NO" b="1" dirty="0"/>
              <a:t>Automatisk </a:t>
            </a:r>
            <a:r>
              <a:rPr lang="nb-NO" b="1" dirty="0" err="1"/>
              <a:t>schema</a:t>
            </a:r>
            <a:r>
              <a:rPr lang="nb-NO" b="1" dirty="0"/>
              <a:t> </a:t>
            </a:r>
            <a:r>
              <a:rPr lang="nb-NO" b="1" dirty="0" err="1"/>
              <a:t>inference</a:t>
            </a:r>
            <a:endParaRPr lang="nb-NO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31865BE9-D030-00E4-A26F-9666ED137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64919"/>
            <a:ext cx="6182588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15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06BC-EAE5-77B0-9F21-F25395A84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0280E94-9020-7179-21E4-8807D596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Transformere data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CD09598-CD8A-1C8B-D7F9-62C94EDE3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Velge kolonner</a:t>
            </a:r>
          </a:p>
          <a:p>
            <a:r>
              <a:rPr lang="nb-NO" b="1" dirty="0"/>
              <a:t>Filtrere data</a:t>
            </a:r>
          </a:p>
          <a:p>
            <a:r>
              <a:rPr lang="nb-NO" b="1" dirty="0"/>
              <a:t>Gruppere og aggregere</a:t>
            </a:r>
          </a:p>
          <a:p>
            <a:pPr marL="0" indent="0">
              <a:buNone/>
            </a:pPr>
            <a:r>
              <a:rPr lang="nb-NO" b="1" dirty="0"/>
              <a:t>Eksempel:</a:t>
            </a:r>
            <a:endParaRPr lang="nb-NO" dirty="0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947C8B9D-C5EA-BE64-E7EB-940B240DE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5687219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56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F9E77-B9AD-2C41-620F-8E58F382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788360E-D287-9797-9FEF-73994644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Lagre data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8C124B9-78AE-6210-0662-7F9B7D7C9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Lagres ofte som </a:t>
            </a:r>
            <a:r>
              <a:rPr lang="nb-NO" b="1" dirty="0" err="1"/>
              <a:t>Parquet</a:t>
            </a:r>
            <a:r>
              <a:rPr lang="nb-NO" b="1" dirty="0"/>
              <a:t> (effektivt format)</a:t>
            </a:r>
          </a:p>
          <a:p>
            <a:r>
              <a:rPr lang="nb-NO" b="1" dirty="0"/>
              <a:t>Kan </a:t>
            </a:r>
            <a:r>
              <a:rPr lang="nb-NO" b="1" dirty="0" err="1"/>
              <a:t>partisjoneres</a:t>
            </a:r>
            <a:r>
              <a:rPr lang="nb-NO" b="1" dirty="0"/>
              <a:t> for bedre ytelse</a:t>
            </a:r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BD778203-A224-B592-C183-2665B89B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4156"/>
            <a:ext cx="5744377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78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AFFB-1F1D-A72D-2ABA-A2EF87CF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FEDF5D7-4592-47EE-9340-CFC23F0A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Spark SQL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011CD5A-58A4-8DC3-0F90-6496D8125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Bruk SQL direkte på data</a:t>
            </a:r>
          </a:p>
          <a:p>
            <a:r>
              <a:rPr lang="nb-NO" b="1" dirty="0"/>
              <a:t>Opprette tabeller og </a:t>
            </a:r>
            <a:r>
              <a:rPr lang="nb-NO" b="1" dirty="0" err="1"/>
              <a:t>views</a:t>
            </a:r>
            <a:endParaRPr lang="nb-NO" b="1" dirty="0"/>
          </a:p>
          <a:p>
            <a:r>
              <a:rPr lang="nb-NO" b="1" dirty="0"/>
              <a:t>Kombinerer SQL + Spark kraft</a:t>
            </a:r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390D31F9-D45E-93F5-8C2F-669D70755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05341"/>
            <a:ext cx="4601217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01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6EE3-B1CF-041E-0BC2-822109FB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0BDC22E-8A9F-AC24-5E26-BB84853A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Visualisering i Notebook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6E9A975-602E-B41D-53FA-E0D7CB16B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Innebygde grafer i </a:t>
            </a:r>
            <a:r>
              <a:rPr lang="nb-NO" b="1" dirty="0" err="1"/>
              <a:t>Fabric</a:t>
            </a:r>
            <a:endParaRPr lang="nb-NO" b="1" dirty="0"/>
          </a:p>
          <a:p>
            <a:r>
              <a:rPr lang="nb-NO" b="1" dirty="0"/>
              <a:t>Eller bruk Python-biblioteker (f.eks. </a:t>
            </a:r>
            <a:r>
              <a:rPr lang="nb-NO" b="1" dirty="0" err="1"/>
              <a:t>Matplotlib</a:t>
            </a:r>
            <a:r>
              <a:rPr lang="nb-NO" b="1" dirty="0"/>
              <a:t>)</a:t>
            </a:r>
          </a:p>
          <a:p>
            <a:r>
              <a:rPr lang="nb-NO" b="1" dirty="0"/>
              <a:t>Gjør analyse mer forståelig</a:t>
            </a:r>
          </a:p>
          <a:p>
            <a:r>
              <a:rPr lang="nb-NO" b="1" dirty="0"/>
              <a:t>Perfekt for eksplorativ analyse</a:t>
            </a:r>
          </a:p>
        </p:txBody>
      </p:sp>
    </p:spTree>
    <p:extLst>
      <p:ext uri="{BB962C8B-B14F-4D97-AF65-F5344CB8AC3E}">
        <p14:creationId xmlns:p14="http://schemas.microsoft.com/office/powerpoint/2010/main" val="2150199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3329-1541-DBC1-695E-9F60502EF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creenshot of notebook chart of product counts by category.">
            <a:extLst>
              <a:ext uri="{FF2B5EF4-FFF2-40B4-BE49-F238E27FC236}">
                <a16:creationId xmlns:a16="http://schemas.microsoft.com/office/drawing/2014/main" id="{C2EB8B2E-C2B7-A45C-6564-FEC11FB5C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813" y="0"/>
            <a:ext cx="11634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Sylinder 7">
            <a:extLst>
              <a:ext uri="{FF2B5EF4-FFF2-40B4-BE49-F238E27FC236}">
                <a16:creationId xmlns:a16="http://schemas.microsoft.com/office/drawing/2014/main" id="{41285288-A2A9-487B-E951-D306D591F312}"/>
              </a:ext>
            </a:extLst>
          </p:cNvPr>
          <p:cNvSpPr txBox="1"/>
          <p:nvPr/>
        </p:nvSpPr>
        <p:spPr>
          <a:xfrm>
            <a:off x="6299200" y="6673334"/>
            <a:ext cx="25146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600" dirty="0">
                <a:solidFill>
                  <a:schemeClr val="bg1"/>
                </a:solidFill>
              </a:rPr>
              <a:t>Kilde: Microsoft </a:t>
            </a:r>
            <a:r>
              <a:rPr lang="nb-NO" sz="600" dirty="0" err="1">
                <a:solidFill>
                  <a:schemeClr val="bg1"/>
                </a:solidFill>
              </a:rPr>
              <a:t>Learn</a:t>
            </a:r>
            <a:r>
              <a:rPr lang="nb-NO" sz="600" dirty="0">
                <a:solidFill>
                  <a:schemeClr val="bg1"/>
                </a:solidFill>
              </a:rPr>
              <a:t> – DP‑600T00: Microsoft </a:t>
            </a:r>
            <a:r>
              <a:rPr lang="nb-NO" sz="600" dirty="0" err="1">
                <a:solidFill>
                  <a:schemeClr val="bg1"/>
                </a:solidFill>
              </a:rPr>
              <a:t>Fabric</a:t>
            </a:r>
            <a:r>
              <a:rPr lang="nb-NO" sz="600" dirty="0">
                <a:solidFill>
                  <a:schemeClr val="bg1"/>
                </a:solidFill>
              </a:rPr>
              <a:t> Analytics </a:t>
            </a:r>
            <a:r>
              <a:rPr lang="nb-NO" sz="600" dirty="0" err="1">
                <a:solidFill>
                  <a:schemeClr val="bg1"/>
                </a:solidFill>
              </a:rPr>
              <a:t>Engineer</a:t>
            </a:r>
            <a:endParaRPr lang="nb-NO" sz="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093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758C-CF87-3934-27A7-4A9378B04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kstSylinder 7">
            <a:extLst>
              <a:ext uri="{FF2B5EF4-FFF2-40B4-BE49-F238E27FC236}">
                <a16:creationId xmlns:a16="http://schemas.microsoft.com/office/drawing/2014/main" id="{06399D62-D989-350F-8439-CB8C1730BED9}"/>
              </a:ext>
            </a:extLst>
          </p:cNvPr>
          <p:cNvSpPr txBox="1"/>
          <p:nvPr/>
        </p:nvSpPr>
        <p:spPr>
          <a:xfrm>
            <a:off x="0" y="6673334"/>
            <a:ext cx="251460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600" dirty="0"/>
              <a:t>Kilde: Microsoft </a:t>
            </a:r>
            <a:r>
              <a:rPr lang="nb-NO" sz="600" dirty="0" err="1"/>
              <a:t>Learn</a:t>
            </a:r>
            <a:r>
              <a:rPr lang="nb-NO" sz="600" dirty="0"/>
              <a:t> – DP‑600T00: Microsoft </a:t>
            </a:r>
            <a:r>
              <a:rPr lang="nb-NO" sz="600" dirty="0" err="1"/>
              <a:t>Fabric</a:t>
            </a:r>
            <a:r>
              <a:rPr lang="nb-NO" sz="600" dirty="0"/>
              <a:t> Analytics </a:t>
            </a:r>
            <a:r>
              <a:rPr lang="nb-NO" sz="600" dirty="0" err="1"/>
              <a:t>Engineer</a:t>
            </a:r>
            <a:endParaRPr lang="nb-NO" sz="600" dirty="0"/>
          </a:p>
        </p:txBody>
      </p:sp>
      <p:pic>
        <p:nvPicPr>
          <p:cNvPr id="12290" name="Picture 2" descr="Screenshot of a bar chart showing product counts by category.">
            <a:extLst>
              <a:ext uri="{FF2B5EF4-FFF2-40B4-BE49-F238E27FC236}">
                <a16:creationId xmlns:a16="http://schemas.microsoft.com/office/drawing/2014/main" id="{95E245FC-73CA-1EE4-A199-C35CDD090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7" y="695325"/>
            <a:ext cx="6829425" cy="546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5295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AF7F5-EEB5-0EF9-BB7B-A31AC824A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15A0080-8FFA-3B9D-E015-41F4EEB9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Oppsummering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B1B6799-931E-7984-F48E-A0A1BE558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Spark gir skalerbar databehandling</a:t>
            </a:r>
          </a:p>
          <a:p>
            <a:r>
              <a:rPr lang="nb-NO" b="1" dirty="0"/>
              <a:t>Integrert i Microsoft </a:t>
            </a:r>
            <a:r>
              <a:rPr lang="nb-NO" b="1" dirty="0" err="1"/>
              <a:t>Fabric</a:t>
            </a:r>
            <a:endParaRPr lang="nb-NO" b="1" dirty="0"/>
          </a:p>
          <a:p>
            <a:r>
              <a:rPr lang="nb-NO" b="1" dirty="0"/>
              <a:t>Støtter både kode og SQL</a:t>
            </a:r>
          </a:p>
          <a:p>
            <a:r>
              <a:rPr lang="nb-NO" b="1" dirty="0"/>
              <a:t>Viktige konsepter:</a:t>
            </a:r>
          </a:p>
          <a:p>
            <a:pPr lvl="1"/>
            <a:r>
              <a:rPr lang="nb-NO" b="1" dirty="0"/>
              <a:t>Spark pools</a:t>
            </a:r>
          </a:p>
          <a:p>
            <a:pPr lvl="1"/>
            <a:r>
              <a:rPr lang="nb-NO" b="1" dirty="0" err="1"/>
              <a:t>Dataframes</a:t>
            </a:r>
            <a:endParaRPr lang="nb-NO" b="1" dirty="0"/>
          </a:p>
          <a:p>
            <a:pPr lvl="1"/>
            <a:r>
              <a:rPr lang="nb-NO" b="1" dirty="0"/>
              <a:t>Notebooks</a:t>
            </a:r>
          </a:p>
          <a:p>
            <a:pPr lvl="1"/>
            <a:r>
              <a:rPr lang="nb-NO" b="1" dirty="0"/>
              <a:t>Lakehouse</a:t>
            </a:r>
          </a:p>
        </p:txBody>
      </p:sp>
    </p:spTree>
    <p:extLst>
      <p:ext uri="{BB962C8B-B14F-4D97-AF65-F5344CB8AC3E}">
        <p14:creationId xmlns:p14="http://schemas.microsoft.com/office/powerpoint/2010/main" val="2628231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B85BC41-3B5B-DFF8-AEC7-8B92045F56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b="1" dirty="0"/>
              <a:t>Øvelse – </a:t>
            </a:r>
            <a:r>
              <a:rPr lang="en-US" b="1" dirty="0"/>
              <a:t>Analyze data with Apache Spark</a:t>
            </a:r>
            <a:endParaRPr lang="nb-NO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9F3A1E3D-E0FE-A33B-B2C7-94665652A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>
                <a:hlinkClick r:id="rId2"/>
              </a:rPr>
              <a:t>microsoft-fabric-platform-enablement-hso/exercises/02-Analyze-data-with-Apache-Spark.md at </a:t>
            </a:r>
            <a:r>
              <a:rPr lang="nb-NO" dirty="0" err="1">
                <a:hlinkClick r:id="rId2"/>
              </a:rPr>
              <a:t>main</a:t>
            </a:r>
            <a:r>
              <a:rPr lang="nb-NO" dirty="0">
                <a:hlinkClick r:id="rId2"/>
              </a:rPr>
              <a:t> · </a:t>
            </a:r>
            <a:r>
              <a:rPr lang="nb-NO" dirty="0" err="1">
                <a:hlinkClick r:id="rId2"/>
              </a:rPr>
              <a:t>masahraei</a:t>
            </a:r>
            <a:r>
              <a:rPr lang="nb-NO" dirty="0">
                <a:hlinkClick r:id="rId2"/>
              </a:rPr>
              <a:t>/</a:t>
            </a:r>
            <a:r>
              <a:rPr lang="nb-NO" dirty="0" err="1">
                <a:hlinkClick r:id="rId2"/>
              </a:rPr>
              <a:t>microsoft-fabric-platform-enablement-hso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72757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920</TotalTime>
  <Words>470</Words>
  <Application>Microsoft Office PowerPoint</Application>
  <PresentationFormat>Widescreen</PresentationFormat>
  <Paragraphs>104</Paragraphs>
  <Slides>22</Slides>
  <Notes>7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Microsoft Fabric Platform Enablement Program – HSØ</vt:lpstr>
      <vt:lpstr>Hva er Apache Spark?</vt:lpstr>
      <vt:lpstr>Spark i Microsoft Fabric</vt:lpstr>
      <vt:lpstr>Spark Pools</vt:lpstr>
      <vt:lpstr>Konfigurasjon av Spark Pools</vt:lpstr>
      <vt:lpstr>PowerPoint-presentasjon</vt:lpstr>
      <vt:lpstr>Runtimes og Environments</vt:lpstr>
      <vt:lpstr>PowerPoint-presentasjon</vt:lpstr>
      <vt:lpstr>Ekstra optimaliseringer</vt:lpstr>
      <vt:lpstr>Hvordan kjøre Spark kode</vt:lpstr>
      <vt:lpstr>PowerPoint-presentasjon</vt:lpstr>
      <vt:lpstr>PowerPoint-presentasjon</vt:lpstr>
      <vt:lpstr>Dataframes i Spark</vt:lpstr>
      <vt:lpstr>Lese data (PySpark)</vt:lpstr>
      <vt:lpstr>Transformere data</vt:lpstr>
      <vt:lpstr>Lagre data</vt:lpstr>
      <vt:lpstr>Spark SQL</vt:lpstr>
      <vt:lpstr>Visualisering i Notebook</vt:lpstr>
      <vt:lpstr>PowerPoint-presentasjon</vt:lpstr>
      <vt:lpstr>PowerPoint-presentasjon</vt:lpstr>
      <vt:lpstr>Oppsummering</vt:lpstr>
      <vt:lpstr>Øvelse – Analyze data with Apache Spark</vt:lpstr>
    </vt:vector>
  </TitlesOfParts>
  <Company>Helse Sor-Ost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Mohammadamin Sahraei</dc:creator>
  <cp:lastModifiedBy>Mohammadamin Sahraei</cp:lastModifiedBy>
  <cp:revision>26</cp:revision>
  <dcterms:created xsi:type="dcterms:W3CDTF">2026-02-18T12:59:19Z</dcterms:created>
  <dcterms:modified xsi:type="dcterms:W3CDTF">2026-03-18T10:14:42Z</dcterms:modified>
</cp:coreProperties>
</file>